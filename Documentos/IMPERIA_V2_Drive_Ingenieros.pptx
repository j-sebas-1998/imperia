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1675"/>
  <p:notesSz cx="6858000" cy="12191675"/>
  <p:embeddedFontLst>
    <p:embeddedFont>
      <p:font typeface="Play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WKlQN8RFDGFrOi41JgEqYbV03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lay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B3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IMPERIA_logo_azul_dorado_mismo_diseno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4920" y="786384"/>
            <a:ext cx="201168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731520" y="2852928"/>
            <a:ext cx="10744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IMPERIA V2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188720" y="3410712"/>
            <a:ext cx="98115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rPr>
              <a:t>Guía oficial para Drive y equipo de desarrollo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188720" y="3867912"/>
            <a:ext cx="98115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Qué usar · Qué ignorar · Qué construir primero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154680" y="4709160"/>
            <a:ext cx="5879592" cy="457200"/>
          </a:xfrm>
          <a:prstGeom prst="roundRect">
            <a:avLst>
              <a:gd fmla="val 16667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3246120" y="4846320"/>
            <a:ext cx="5715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A1B33"/>
                </a:solidFill>
                <a:latin typeface="Arial"/>
                <a:ea typeface="Arial"/>
                <a:cs typeface="Arial"/>
                <a:sym typeface="Arial"/>
              </a:rPr>
              <a:t>Documento de alineación antes de diseñar o programar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914400" y="6446520"/>
            <a:ext cx="103601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IMPERIA · Excelencia técnica · Formación integral · Dominio propio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475488" y="25603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0A1B33"/>
                </a:solidFill>
                <a:latin typeface="Play"/>
                <a:ea typeface="Play"/>
                <a:cs typeface="Play"/>
                <a:sym typeface="Play"/>
              </a:rPr>
              <a:t>IMPERIA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02920" y="493776"/>
            <a:ext cx="12801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rPr>
              <a:t>ACADEMY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" name="Google Shape;32;p2"/>
          <p:cNvCxnSpPr/>
          <p:nvPr/>
        </p:nvCxnSpPr>
        <p:spPr>
          <a:xfrm>
            <a:off x="457200" y="658368"/>
            <a:ext cx="11247120" cy="0"/>
          </a:xfrm>
          <a:prstGeom prst="straightConnector1">
            <a:avLst/>
          </a:prstGeom>
          <a:noFill/>
          <a:ln cap="flat" cmpd="sng" w="1015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2"/>
          <p:cNvSpPr/>
          <p:nvPr/>
        </p:nvSpPr>
        <p:spPr>
          <a:xfrm>
            <a:off x="8321040" y="283464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LEER PRIMERO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85800" y="868680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A1B33"/>
                </a:solidFill>
                <a:latin typeface="Play"/>
                <a:ea typeface="Play"/>
                <a:cs typeface="Play"/>
                <a:sym typeface="Play"/>
              </a:rPr>
              <a:t>Objetivo de este Drive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13232" y="1353312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Que Morales y Muñoz trabajen con la versión vigente de IMPERIA, sin mezclar V1 con V2.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77240" y="1874520"/>
            <a:ext cx="3429000" cy="3246120"/>
          </a:xfrm>
          <a:prstGeom prst="roundRect">
            <a:avLst>
              <a:gd fmla="val 1690" name="adj"/>
            </a:avLst>
          </a:prstGeom>
          <a:solidFill>
            <a:srgbClr val="F8F9FB"/>
          </a:solidFill>
          <a:ln cap="flat" cmpd="sng" w="15225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941832" y="2039112"/>
            <a:ext cx="30998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0A1B33"/>
                </a:solidFill>
                <a:latin typeface="Play"/>
                <a:ea typeface="Play"/>
                <a:cs typeface="Play"/>
                <a:sym typeface="Play"/>
              </a:rPr>
              <a:t>1. Fuente única de verdad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941832" y="2441448"/>
            <a:ext cx="3099816" cy="25328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Toda decisión de diseño, precios, menús y funcionalidades debe salir de la carpeta “V2 — Vigente”.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379976" y="1874520"/>
            <a:ext cx="3429000" cy="3246120"/>
          </a:xfrm>
          <a:prstGeom prst="roundRect">
            <a:avLst>
              <a:gd fmla="val 1690" name="adj"/>
            </a:avLst>
          </a:prstGeom>
          <a:solidFill>
            <a:srgbClr val="F8F9FB"/>
          </a:solidFill>
          <a:ln cap="flat" cmpd="sng" w="15225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544568" y="2039112"/>
            <a:ext cx="30998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0A1B33"/>
                </a:solidFill>
                <a:latin typeface="Play"/>
                <a:ea typeface="Play"/>
                <a:cs typeface="Play"/>
                <a:sym typeface="Play"/>
              </a:rPr>
              <a:t>2. Evitar confusión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544568" y="2441448"/>
            <a:ext cx="3099816" cy="25328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V1 queda como histórico. Sirvió para aprender, pero no debe usarse para construir la web ni comunicar precios.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7982712" y="1874520"/>
            <a:ext cx="3429000" cy="3246120"/>
          </a:xfrm>
          <a:prstGeom prst="roundRect">
            <a:avLst>
              <a:gd fmla="val 1690" name="adj"/>
            </a:avLst>
          </a:prstGeom>
          <a:solidFill>
            <a:srgbClr val="F8F9FB"/>
          </a:solidFill>
          <a:ln cap="flat" cmpd="sng" w="15225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8147304" y="2039112"/>
            <a:ext cx="30998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0A1B33"/>
                </a:solidFill>
                <a:latin typeface="Play"/>
                <a:ea typeface="Play"/>
                <a:cs typeface="Play"/>
                <a:sym typeface="Play"/>
              </a:rPr>
              <a:t>3. Construir por etapas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147304" y="2441448"/>
            <a:ext cx="3099816" cy="25328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El 1 de enero se lanza el MVP. Lo demás se clasifica como Fase 2 o Futuro.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914400" y="6446520"/>
            <a:ext cx="103601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A1B33"/>
                </a:solidFill>
                <a:latin typeface="Arial"/>
                <a:ea typeface="Arial"/>
                <a:cs typeface="Arial"/>
                <a:sym typeface="Arial"/>
              </a:rPr>
              <a:t>IMPERIA · Excelencia técnica · Formación integral · Dominio propio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B33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475488" y="25603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Play"/>
                <a:ea typeface="Play"/>
                <a:cs typeface="Play"/>
                <a:sym typeface="Play"/>
              </a:rPr>
              <a:t>IMPERIA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502920" y="493776"/>
            <a:ext cx="12801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ACADEMY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" name="Google Shape;54;p3"/>
          <p:cNvCxnSpPr/>
          <p:nvPr/>
        </p:nvCxnSpPr>
        <p:spPr>
          <a:xfrm>
            <a:off x="457200" y="658368"/>
            <a:ext cx="11247120" cy="0"/>
          </a:xfrm>
          <a:prstGeom prst="straightConnector1">
            <a:avLst/>
          </a:prstGeom>
          <a:noFill/>
          <a:ln cap="flat" cmpd="sng" w="1015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3"/>
          <p:cNvSpPr/>
          <p:nvPr/>
        </p:nvSpPr>
        <p:spPr>
          <a:xfrm>
            <a:off x="8321040" y="283464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5E9E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E5E9EF"/>
                </a:solidFill>
                <a:latin typeface="Arial"/>
                <a:ea typeface="Arial"/>
                <a:cs typeface="Arial"/>
                <a:sym typeface="Arial"/>
              </a:rPr>
              <a:t>ESTRUCTURA DRIVE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85800" y="868680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Carpetas recomendadas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713232" y="1353312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rPr>
              <a:t>Subir solo lo necesario; lo viejo va separado y marcado como histórico.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868680" y="1828800"/>
            <a:ext cx="10469880" cy="512064"/>
          </a:xfrm>
          <a:prstGeom prst="roundRect">
            <a:avLst>
              <a:gd fmla="val 10714" name="adj"/>
            </a:avLst>
          </a:prstGeom>
          <a:solidFill>
            <a:srgbClr val="101F38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1051560" y="1938528"/>
            <a:ext cx="3200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250"/>
              <a:buFont typeface="Play"/>
              <a:buNone/>
            </a:pPr>
            <a:r>
              <a:rPr b="1" i="0" lang="en-US" sz="1250" u="none" cap="none" strike="noStrike">
                <a:solidFill>
                  <a:srgbClr val="D4AF37"/>
                </a:solidFill>
                <a:latin typeface="Play"/>
                <a:ea typeface="Play"/>
                <a:cs typeface="Play"/>
                <a:sym typeface="Play"/>
              </a:rPr>
              <a:t>01. IMPERIA V2 — Vigente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251960" y="1920240"/>
            <a:ext cx="6766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Concepto actual, misión, visión, precios, servicios y reglas de negocio.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868680" y="2578608"/>
            <a:ext cx="10469880" cy="512064"/>
          </a:xfrm>
          <a:prstGeom prst="roundRect">
            <a:avLst>
              <a:gd fmla="val 10714" name="adj"/>
            </a:avLst>
          </a:prstGeom>
          <a:solidFill>
            <a:srgbClr val="101F38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1051560" y="2688336"/>
            <a:ext cx="3200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250"/>
              <a:buFont typeface="Play"/>
              <a:buNone/>
            </a:pPr>
            <a:r>
              <a:rPr b="1" i="0" lang="en-US" sz="1250" u="none" cap="none" strike="noStrike">
                <a:solidFill>
                  <a:srgbClr val="D4AF37"/>
                </a:solidFill>
                <a:latin typeface="Play"/>
                <a:ea typeface="Play"/>
                <a:cs typeface="Play"/>
                <a:sym typeface="Play"/>
              </a:rPr>
              <a:t>02. Web y tecnología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251960" y="2670048"/>
            <a:ext cx="6766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Menús, flujo de usuario, MVP enero, perfiles, pagos y panel administrativo.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868680" y="3328416"/>
            <a:ext cx="10469880" cy="512064"/>
          </a:xfrm>
          <a:prstGeom prst="roundRect">
            <a:avLst>
              <a:gd fmla="val 10714" name="adj"/>
            </a:avLst>
          </a:prstGeom>
          <a:solidFill>
            <a:srgbClr val="101F38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051560" y="3438144"/>
            <a:ext cx="3200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250"/>
              <a:buFont typeface="Play"/>
              <a:buNone/>
            </a:pPr>
            <a:r>
              <a:rPr b="1" i="0" lang="en-US" sz="1250" u="none" cap="none" strike="noStrike">
                <a:solidFill>
                  <a:srgbClr val="D4AF37"/>
                </a:solidFill>
                <a:latin typeface="Play"/>
                <a:ea typeface="Play"/>
                <a:cs typeface="Play"/>
                <a:sym typeface="Play"/>
              </a:rPr>
              <a:t>03. Marca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251960" y="3419856"/>
            <a:ext cx="6766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Logo, colores, tipografías, referencias visuales y estilo del sitio.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868680" y="4078224"/>
            <a:ext cx="10469880" cy="512064"/>
          </a:xfrm>
          <a:prstGeom prst="roundRect">
            <a:avLst>
              <a:gd fmla="val 10714" name="adj"/>
            </a:avLst>
          </a:prstGeom>
          <a:solidFill>
            <a:srgbClr val="101F38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1051560" y="4187952"/>
            <a:ext cx="3200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250"/>
              <a:buFont typeface="Play"/>
              <a:buNone/>
            </a:pPr>
            <a:r>
              <a:rPr b="1" i="0" lang="en-US" sz="1250" u="none" cap="none" strike="noStrike">
                <a:solidFill>
                  <a:srgbClr val="D4AF37"/>
                </a:solidFill>
                <a:latin typeface="Play"/>
                <a:ea typeface="Play"/>
                <a:cs typeface="Play"/>
                <a:sym typeface="Play"/>
              </a:rPr>
              <a:t>04. Material comercial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251960" y="4169664"/>
            <a:ext cx="6766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Presentación a padres, textos institucionales y piezas aprobadas.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68680" y="4828032"/>
            <a:ext cx="10469880" cy="512064"/>
          </a:xfrm>
          <a:prstGeom prst="roundRect">
            <a:avLst>
              <a:gd fmla="val 10714" name="adj"/>
            </a:avLst>
          </a:prstGeom>
          <a:solidFill>
            <a:srgbClr val="1C2430"/>
          </a:solidFill>
          <a:ln cap="flat" cmpd="sng" w="12700">
            <a:solidFill>
              <a:srgbClr val="A8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1051560" y="4937760"/>
            <a:ext cx="3200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B3"/>
              </a:buClr>
              <a:buSzPts val="1250"/>
              <a:buFont typeface="Play"/>
              <a:buNone/>
            </a:pPr>
            <a:r>
              <a:rPr b="1" i="0" lang="en-US" sz="1250" u="none" cap="none" strike="noStrike">
                <a:solidFill>
                  <a:srgbClr val="FFB3B3"/>
                </a:solidFill>
                <a:latin typeface="Play"/>
                <a:ea typeface="Play"/>
                <a:cs typeface="Play"/>
                <a:sym typeface="Play"/>
              </a:rPr>
              <a:t>05. Histórico — NO VIGENTE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251960" y="4919472"/>
            <a:ext cx="6766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V1, precios antiguos, presupuestos descartados y presentaciones viejas.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914400" y="6446520"/>
            <a:ext cx="103601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IMPERIA · Excelencia técnica · Formación integral · Dominio propio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475488" y="25603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0A1B33"/>
                </a:solidFill>
                <a:latin typeface="Play"/>
                <a:ea typeface="Play"/>
                <a:cs typeface="Play"/>
                <a:sym typeface="Play"/>
              </a:rPr>
              <a:t>IMPERIA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02920" y="493776"/>
            <a:ext cx="12801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rPr>
              <a:t>ACADEMY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" name="Google Shape;82;p4"/>
          <p:cNvCxnSpPr/>
          <p:nvPr/>
        </p:nvCxnSpPr>
        <p:spPr>
          <a:xfrm>
            <a:off x="457200" y="658368"/>
            <a:ext cx="11247120" cy="0"/>
          </a:xfrm>
          <a:prstGeom prst="straightConnector1">
            <a:avLst/>
          </a:prstGeom>
          <a:noFill/>
          <a:ln cap="flat" cmpd="sng" w="1015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4"/>
          <p:cNvSpPr/>
          <p:nvPr/>
        </p:nvSpPr>
        <p:spPr>
          <a:xfrm>
            <a:off x="8321040" y="283464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VIGENTE VS HISTÓRICO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685800" y="868680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A1B33"/>
                </a:solidFill>
                <a:latin typeface="Play"/>
                <a:ea typeface="Play"/>
                <a:cs typeface="Play"/>
                <a:sym typeface="Play"/>
              </a:rPr>
              <a:t>Qué pueden usar y qué no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713232" y="1353312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Regla simple: si no está en “V2 — Vigente”, no se toma como decisión actual.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777240" y="1874520"/>
            <a:ext cx="5303520" cy="3566160"/>
          </a:xfrm>
          <a:prstGeom prst="roundRect">
            <a:avLst>
              <a:gd fmla="val 1538" name="adj"/>
            </a:avLst>
          </a:prstGeom>
          <a:solidFill>
            <a:srgbClr val="F3FBF7"/>
          </a:solidFill>
          <a:ln cap="flat" cmpd="sng" w="15225">
            <a:solidFill>
              <a:srgbClr val="1F7A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941832" y="2039112"/>
            <a:ext cx="49743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55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1F7A55"/>
                </a:solidFill>
                <a:latin typeface="Play"/>
                <a:ea typeface="Play"/>
                <a:cs typeface="Play"/>
                <a:sym typeface="Play"/>
              </a:rPr>
              <a:t>✅ Usar para diseño y desarrollo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941832" y="2441448"/>
            <a:ext cx="4974336" cy="2852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• Modelo IMPERIA V2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• Precios actuales/provisionales validados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• Alcance MVP enero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• Paleta azul marino + dorado + blanco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• Menús y flujos aprobados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• Perfil de deportista y área privada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263640" y="1874520"/>
            <a:ext cx="5303520" cy="3566160"/>
          </a:xfrm>
          <a:prstGeom prst="roundRect">
            <a:avLst>
              <a:gd fmla="val 1538" name="adj"/>
            </a:avLst>
          </a:prstGeom>
          <a:solidFill>
            <a:srgbClr val="FFF6F6"/>
          </a:solidFill>
          <a:ln cap="flat" cmpd="sng" w="15225">
            <a:solidFill>
              <a:srgbClr val="A8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6428232" y="2039112"/>
            <a:ext cx="49743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3232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A83232"/>
                </a:solidFill>
                <a:latin typeface="Play"/>
                <a:ea typeface="Play"/>
                <a:cs typeface="Play"/>
                <a:sym typeface="Play"/>
              </a:rPr>
              <a:t>🚫 No usar como definitivo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428232" y="2441448"/>
            <a:ext cx="4974336" cy="2852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• Planes V1 de $650 / $850 como estructura principal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• Costos antiguos de profesionales incluidos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• Presupuestos descartados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• Ideas de fisioterapia/nutrición aún sin costo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• Presentaciones internas sin marca “vigente”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914400" y="6446520"/>
            <a:ext cx="103601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A1B33"/>
                </a:solidFill>
                <a:latin typeface="Arial"/>
                <a:ea typeface="Arial"/>
                <a:cs typeface="Arial"/>
                <a:sym typeface="Arial"/>
              </a:rPr>
              <a:t>IMPERIA · Excelencia técnica · Formación integral · Dominio propio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B33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475488" y="25603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Play"/>
                <a:ea typeface="Play"/>
                <a:cs typeface="Play"/>
                <a:sym typeface="Play"/>
              </a:rPr>
              <a:t>IMPERIA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02920" y="493776"/>
            <a:ext cx="12801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ACADEMY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" name="Google Shape;101;p5"/>
          <p:cNvCxnSpPr/>
          <p:nvPr/>
        </p:nvCxnSpPr>
        <p:spPr>
          <a:xfrm>
            <a:off x="457200" y="658368"/>
            <a:ext cx="11247120" cy="0"/>
          </a:xfrm>
          <a:prstGeom prst="straightConnector1">
            <a:avLst/>
          </a:prstGeom>
          <a:noFill/>
          <a:ln cap="flat" cmpd="sng" w="1015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5"/>
          <p:cNvSpPr/>
          <p:nvPr/>
        </p:nvSpPr>
        <p:spPr>
          <a:xfrm>
            <a:off x="8321040" y="283464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5E9E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E5E9EF"/>
                </a:solidFill>
                <a:latin typeface="Arial"/>
                <a:ea typeface="Arial"/>
                <a:cs typeface="Arial"/>
                <a:sym typeface="Arial"/>
              </a:rPr>
              <a:t>MODELO V2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685800" y="868680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Cómo funciona IMPERIA V2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713232" y="1353312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rPr>
              <a:t>Núcleo técnico rentable + paquetes profesionales + servicios especiales.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85800" y="2057400"/>
            <a:ext cx="2606040" cy="2743200"/>
          </a:xfrm>
          <a:prstGeom prst="roundRect">
            <a:avLst>
              <a:gd fmla="val 2105" name="adj"/>
            </a:avLst>
          </a:prstGeom>
          <a:solidFill>
            <a:srgbClr val="101F38"/>
          </a:solidFill>
          <a:ln cap="flat" cmpd="sng" w="15225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850392" y="2221992"/>
            <a:ext cx="22768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Play"/>
                <a:ea typeface="Play"/>
                <a:cs typeface="Play"/>
                <a:sym typeface="Play"/>
              </a:rPr>
              <a:t>Núcleo técnico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850392" y="2624328"/>
            <a:ext cx="2276856" cy="20299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base deportiva: semillero, técnica 1 jornada y doble jornada.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3566160" y="2057400"/>
            <a:ext cx="2606040" cy="2743200"/>
          </a:xfrm>
          <a:prstGeom prst="roundRect">
            <a:avLst>
              <a:gd fmla="val 2105" name="adj"/>
            </a:avLst>
          </a:prstGeom>
          <a:solidFill>
            <a:srgbClr val="101F38"/>
          </a:solidFill>
          <a:ln cap="flat" cmpd="sng" w="15225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3730752" y="2221992"/>
            <a:ext cx="22768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Play"/>
                <a:ea typeface="Play"/>
                <a:cs typeface="Play"/>
                <a:sym typeface="Play"/>
              </a:rPr>
              <a:t>Profesionales grupales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3730752" y="2624328"/>
            <a:ext cx="2276856" cy="20299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Acompañamiento grupal: psicología, ballet, Pilates y otros servicios activables.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446520" y="2057400"/>
            <a:ext cx="2606040" cy="2743200"/>
          </a:xfrm>
          <a:prstGeom prst="roundRect">
            <a:avLst>
              <a:gd fmla="val 2105" name="adj"/>
            </a:avLst>
          </a:prstGeom>
          <a:solidFill>
            <a:srgbClr val="101F38"/>
          </a:solidFill>
          <a:ln cap="flat" cmpd="sng" w="15225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6611112" y="2221992"/>
            <a:ext cx="22768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Play"/>
                <a:ea typeface="Play"/>
                <a:cs typeface="Play"/>
                <a:sym typeface="Play"/>
              </a:rPr>
              <a:t>Profesionales individuales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611112" y="2624328"/>
            <a:ext cx="2276856" cy="20299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Atención personalizada cuando el deportista lo necesite. Precio por definir.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9326880" y="2057400"/>
            <a:ext cx="2606040" cy="2743200"/>
          </a:xfrm>
          <a:prstGeom prst="roundRect">
            <a:avLst>
              <a:gd fmla="val 2105" name="adj"/>
            </a:avLst>
          </a:prstGeom>
          <a:solidFill>
            <a:srgbClr val="101F38"/>
          </a:solidFill>
          <a:ln cap="flat" cmpd="sng" w="15225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9491472" y="2221992"/>
            <a:ext cx="22768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Play"/>
                <a:ea typeface="Play"/>
                <a:cs typeface="Play"/>
                <a:sym typeface="Play"/>
              </a:rPr>
              <a:t>Servicios especiales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9491472" y="2624328"/>
            <a:ext cx="2276856" cy="20299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Clases privadas, coreografías y futuros módulos de alto rendimiento.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051560" y="52578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sistema debe permitir combinar servicios sin programar 30 paquetes rígidos.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914400" y="6446520"/>
            <a:ext cx="103601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IMPERIA · Excelencia técnica · Formación integral · Dominio propio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475488" y="25603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0A1B33"/>
                </a:solidFill>
                <a:latin typeface="Play"/>
                <a:ea typeface="Play"/>
                <a:cs typeface="Play"/>
                <a:sym typeface="Play"/>
              </a:rPr>
              <a:t>IMPERIA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502920" y="493776"/>
            <a:ext cx="12801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rPr>
              <a:t>ACADEMY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p6"/>
          <p:cNvCxnSpPr/>
          <p:nvPr/>
        </p:nvCxnSpPr>
        <p:spPr>
          <a:xfrm>
            <a:off x="457200" y="658368"/>
            <a:ext cx="11247120" cy="0"/>
          </a:xfrm>
          <a:prstGeom prst="straightConnector1">
            <a:avLst/>
          </a:prstGeom>
          <a:noFill/>
          <a:ln cap="flat" cmpd="sng" w="1015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6"/>
          <p:cNvSpPr/>
          <p:nvPr/>
        </p:nvSpPr>
        <p:spPr>
          <a:xfrm>
            <a:off x="8321040" y="283464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PRECIOS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85800" y="868680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A1B33"/>
                </a:solidFill>
                <a:latin typeface="Play"/>
                <a:ea typeface="Play"/>
                <a:cs typeface="Play"/>
                <a:sym typeface="Play"/>
              </a:rPr>
              <a:t>Precios de referencia para la maqueta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713232" y="1353312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Usarlos como base visual; deben quedar configurables desde administración.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85800" y="1828800"/>
            <a:ext cx="2606040" cy="2971800"/>
          </a:xfrm>
          <a:prstGeom prst="roundRect">
            <a:avLst>
              <a:gd fmla="val 2807" name="adj"/>
            </a:avLst>
          </a:prstGeom>
          <a:solidFill>
            <a:srgbClr val="0A1B33"/>
          </a:solidFill>
          <a:ln cap="flat" cmpd="sng" w="17775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868680" y="2084832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Semillero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868680" y="2743200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D4AF37"/>
                </a:solidFill>
                <a:latin typeface="Play"/>
                <a:ea typeface="Play"/>
                <a:cs typeface="Play"/>
                <a:sym typeface="Play"/>
              </a:rPr>
              <a:t>$180.000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914400" y="3657600"/>
            <a:ext cx="2148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Formación base y desarrollo inicial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3566160" y="1828800"/>
            <a:ext cx="2606040" cy="2971800"/>
          </a:xfrm>
          <a:prstGeom prst="roundRect">
            <a:avLst>
              <a:gd fmla="val 2807" name="adj"/>
            </a:avLst>
          </a:prstGeom>
          <a:solidFill>
            <a:srgbClr val="0A1B33"/>
          </a:solidFill>
          <a:ln cap="flat" cmpd="sng" w="17775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3749040" y="2084832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Técnica 1 jornada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3749040" y="2743200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D4AF37"/>
                </a:solidFill>
                <a:latin typeface="Play"/>
                <a:ea typeface="Play"/>
                <a:cs typeface="Play"/>
                <a:sym typeface="Play"/>
              </a:rPr>
              <a:t>$300.000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794760" y="3657600"/>
            <a:ext cx="2148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Entrenamiento técnico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6446520" y="1828800"/>
            <a:ext cx="2606040" cy="2971800"/>
          </a:xfrm>
          <a:prstGeom prst="roundRect">
            <a:avLst>
              <a:gd fmla="val 2807" name="adj"/>
            </a:avLst>
          </a:prstGeom>
          <a:solidFill>
            <a:srgbClr val="0A1B33"/>
          </a:solidFill>
          <a:ln cap="flat" cmpd="sng" w="17775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6629400" y="2084832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Doble jornada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629400" y="2743200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D4AF37"/>
                </a:solidFill>
                <a:latin typeface="Play"/>
                <a:ea typeface="Play"/>
                <a:cs typeface="Play"/>
                <a:sym typeface="Play"/>
              </a:rPr>
              <a:t>$700.000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6675120" y="3657600"/>
            <a:ext cx="2148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Trabajo técnico con ambos entrenadores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9326880" y="1828800"/>
            <a:ext cx="2606040" cy="2971800"/>
          </a:xfrm>
          <a:prstGeom prst="roundRect">
            <a:avLst>
              <a:gd fmla="val 2807" name="adj"/>
            </a:avLst>
          </a:prstGeom>
          <a:solidFill>
            <a:srgbClr val="0A1B33"/>
          </a:solidFill>
          <a:ln cap="flat" cmpd="sng" w="17775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9509760" y="2084832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Profesionales grupales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9509760" y="2743200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D4AF37"/>
                </a:solidFill>
                <a:latin typeface="Play"/>
                <a:ea typeface="Play"/>
                <a:cs typeface="Play"/>
                <a:sym typeface="Play"/>
              </a:rPr>
              <a:t>$100.000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9555480" y="3657600"/>
            <a:ext cx="2148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Acompañamiento grupal complementario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868680" y="544068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Por definir: profesionales individuales · clases privadas · coreografías 2027 · fin de semana si se confirma.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914400" y="6446520"/>
            <a:ext cx="103601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A1B33"/>
                </a:solidFill>
                <a:latin typeface="Arial"/>
                <a:ea typeface="Arial"/>
                <a:cs typeface="Arial"/>
                <a:sym typeface="Arial"/>
              </a:rPr>
              <a:t>IMPERIA · Excelencia técnica · Formación integral · Dominio propio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475488" y="25603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0A1B33"/>
                </a:solidFill>
                <a:latin typeface="Play"/>
                <a:ea typeface="Play"/>
                <a:cs typeface="Play"/>
                <a:sym typeface="Play"/>
              </a:rPr>
              <a:t>IMPERIA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02920" y="493776"/>
            <a:ext cx="12801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rPr>
              <a:t>ACADEMY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" y="658368"/>
            <a:ext cx="11247120" cy="0"/>
          </a:xfrm>
          <a:prstGeom prst="straightConnector1">
            <a:avLst/>
          </a:prstGeom>
          <a:noFill/>
          <a:ln cap="flat" cmpd="sng" w="1015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321040" y="283464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MVP ENERO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685800" y="868680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A1B33"/>
                </a:solidFill>
                <a:latin typeface="Play"/>
                <a:ea typeface="Play"/>
                <a:cs typeface="Play"/>
                <a:sym typeface="Play"/>
              </a:rPr>
              <a:t>Alcance mínimo del sitio para enero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713232" y="1353312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Primero debe funcionar el recorrido principal del padre/deportista.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777240" y="1828800"/>
            <a:ext cx="5257800" cy="3429000"/>
          </a:xfrm>
          <a:prstGeom prst="roundRect">
            <a:avLst>
              <a:gd fmla="val 1600" name="adj"/>
            </a:avLst>
          </a:prstGeom>
          <a:solidFill>
            <a:srgbClr val="F8F9FB"/>
          </a:solidFill>
          <a:ln cap="flat" cmpd="sng" w="15225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941832" y="1993392"/>
            <a:ext cx="49286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0A1B33"/>
                </a:solidFill>
                <a:latin typeface="Play"/>
                <a:ea typeface="Play"/>
                <a:cs typeface="Play"/>
                <a:sym typeface="Play"/>
              </a:rPr>
              <a:t>Obligatorio para el MVP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941832" y="2395728"/>
            <a:ext cx="4928616" cy="27157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Sitio público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Registro / inicio de sesión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Perfil de padre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Perfil de deportista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Catálogo de servicios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217920" y="1828800"/>
            <a:ext cx="5257800" cy="3429000"/>
          </a:xfrm>
          <a:prstGeom prst="roundRect">
            <a:avLst>
              <a:gd fmla="val 1600" name="adj"/>
            </a:avLst>
          </a:prstGeom>
          <a:solidFill>
            <a:srgbClr val="F8F9FB"/>
          </a:solidFill>
          <a:ln cap="flat" cmpd="sng" w="15225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6382512" y="1993392"/>
            <a:ext cx="49286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0A1B33"/>
                </a:solidFill>
                <a:latin typeface="Play"/>
                <a:ea typeface="Play"/>
                <a:cs typeface="Play"/>
                <a:sym typeface="Play"/>
              </a:rPr>
              <a:t>Obligatorio para el MVP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6382512" y="2395728"/>
            <a:ext cx="4928616" cy="27157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Selección de plan + extras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Cálculo automático de mensualidad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Pago en línea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Historial de pagos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Panel administrativo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914400" y="6446520"/>
            <a:ext cx="103601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A1B33"/>
                </a:solidFill>
                <a:latin typeface="Arial"/>
                <a:ea typeface="Arial"/>
                <a:cs typeface="Arial"/>
                <a:sym typeface="Arial"/>
              </a:rPr>
              <a:t>IMPERIA · Excelencia técnica · Formación integral · Dominio propio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B33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475488" y="25603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Play"/>
                <a:ea typeface="Play"/>
                <a:cs typeface="Play"/>
                <a:sym typeface="Play"/>
              </a:rPr>
              <a:t>IMPERIA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502920" y="493776"/>
            <a:ext cx="12801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ACADEMY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p8"/>
          <p:cNvCxnSpPr/>
          <p:nvPr/>
        </p:nvCxnSpPr>
        <p:spPr>
          <a:xfrm>
            <a:off x="457200" y="658368"/>
            <a:ext cx="11247120" cy="0"/>
          </a:xfrm>
          <a:prstGeom prst="straightConnector1">
            <a:avLst/>
          </a:prstGeom>
          <a:noFill/>
          <a:ln cap="flat" cmpd="sng" w="1015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8"/>
          <p:cNvSpPr/>
          <p:nvPr/>
        </p:nvSpPr>
        <p:spPr>
          <a:xfrm>
            <a:off x="8321040" y="283464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5E9E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E5E9EF"/>
                </a:solidFill>
                <a:latin typeface="Arial"/>
                <a:ea typeface="Arial"/>
                <a:cs typeface="Arial"/>
                <a:sym typeface="Arial"/>
              </a:rPr>
              <a:t>ROLES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85800" y="868680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Usuarios y permisos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713232" y="1353312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rPr>
              <a:t>Cada rol debe ver y editar información distinta.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914400" y="1783080"/>
            <a:ext cx="10332720" cy="475488"/>
          </a:xfrm>
          <a:prstGeom prst="roundRect">
            <a:avLst>
              <a:gd fmla="val 9615" name="adj"/>
            </a:avLst>
          </a:prstGeom>
          <a:solidFill>
            <a:srgbClr val="101F38"/>
          </a:solidFill>
          <a:ln cap="flat" cmpd="sng" w="11425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1115568" y="1911096"/>
            <a:ext cx="19659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150"/>
              <a:buFont typeface="Play"/>
              <a:buNone/>
            </a:pPr>
            <a:r>
              <a:rPr b="1" i="0" lang="en-US" sz="1150" u="none" cap="none" strike="noStrike">
                <a:solidFill>
                  <a:srgbClr val="D4AF37"/>
                </a:solidFill>
                <a:latin typeface="Play"/>
                <a:ea typeface="Play"/>
                <a:cs typeface="Play"/>
                <a:sym typeface="Play"/>
              </a:rPr>
              <a:t>Administrador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3337560" y="1901952"/>
            <a:ext cx="7543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Gestiona servicios, precios, usuarios, pagos, módulos y permisos.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914400" y="2496312"/>
            <a:ext cx="10332720" cy="475488"/>
          </a:xfrm>
          <a:prstGeom prst="roundRect">
            <a:avLst>
              <a:gd fmla="val 9615" name="adj"/>
            </a:avLst>
          </a:prstGeom>
          <a:solidFill>
            <a:srgbClr val="101F38"/>
          </a:solidFill>
          <a:ln cap="flat" cmpd="sng" w="11425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1115568" y="2624328"/>
            <a:ext cx="19659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150"/>
              <a:buFont typeface="Play"/>
              <a:buNone/>
            </a:pPr>
            <a:r>
              <a:rPr b="1" i="0" lang="en-US" sz="1150" u="none" cap="none" strike="noStrike">
                <a:solidFill>
                  <a:srgbClr val="D4AF37"/>
                </a:solidFill>
                <a:latin typeface="Play"/>
                <a:ea typeface="Play"/>
                <a:cs typeface="Play"/>
                <a:sym typeface="Play"/>
              </a:rPr>
              <a:t>Padre / acudiente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3337560" y="2615184"/>
            <a:ext cx="7543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 planes, pagos, estado del servicio y evolución del deportista.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914400" y="3209544"/>
            <a:ext cx="10332720" cy="475488"/>
          </a:xfrm>
          <a:prstGeom prst="roundRect">
            <a:avLst>
              <a:gd fmla="val 9615" name="adj"/>
            </a:avLst>
          </a:prstGeom>
          <a:solidFill>
            <a:srgbClr val="101F38"/>
          </a:solidFill>
          <a:ln cap="flat" cmpd="sng" w="11425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1115568" y="3337560"/>
            <a:ext cx="19659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150"/>
              <a:buFont typeface="Play"/>
              <a:buNone/>
            </a:pPr>
            <a:r>
              <a:rPr b="1" i="0" lang="en-US" sz="1150" u="none" cap="none" strike="noStrike">
                <a:solidFill>
                  <a:srgbClr val="D4AF37"/>
                </a:solidFill>
                <a:latin typeface="Play"/>
                <a:ea typeface="Play"/>
                <a:cs typeface="Play"/>
                <a:sym typeface="Play"/>
              </a:rPr>
              <a:t>Deportista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3337560" y="3328416"/>
            <a:ext cx="7543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Puede consultar su proceso, objetivos y seguimiento si se habilita.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914400" y="3922776"/>
            <a:ext cx="10332720" cy="475488"/>
          </a:xfrm>
          <a:prstGeom prst="roundRect">
            <a:avLst>
              <a:gd fmla="val 9615" name="adj"/>
            </a:avLst>
          </a:prstGeom>
          <a:solidFill>
            <a:srgbClr val="101F38"/>
          </a:solidFill>
          <a:ln cap="flat" cmpd="sng" w="11425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1115568" y="4050792"/>
            <a:ext cx="19659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150"/>
              <a:buFont typeface="Play"/>
              <a:buNone/>
            </a:pPr>
            <a:r>
              <a:rPr b="1" i="0" lang="en-US" sz="1150" u="none" cap="none" strike="noStrike">
                <a:solidFill>
                  <a:srgbClr val="D4AF37"/>
                </a:solidFill>
                <a:latin typeface="Play"/>
                <a:ea typeface="Play"/>
                <a:cs typeface="Play"/>
                <a:sym typeface="Play"/>
              </a:rPr>
              <a:t>Entrenador / monitor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3337560" y="4041648"/>
            <a:ext cx="7543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Registra asistencia, observaciones y avances técnicos.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914400" y="4636008"/>
            <a:ext cx="10332720" cy="475488"/>
          </a:xfrm>
          <a:prstGeom prst="roundRect">
            <a:avLst>
              <a:gd fmla="val 9615" name="adj"/>
            </a:avLst>
          </a:prstGeom>
          <a:solidFill>
            <a:srgbClr val="101F38"/>
          </a:solidFill>
          <a:ln cap="flat" cmpd="sng" w="11425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1115568" y="4764024"/>
            <a:ext cx="19659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150"/>
              <a:buFont typeface="Play"/>
              <a:buNone/>
            </a:pPr>
            <a:r>
              <a:rPr b="1" i="0" lang="en-US" sz="1150" u="none" cap="none" strike="noStrike">
                <a:solidFill>
                  <a:srgbClr val="D4AF37"/>
                </a:solidFill>
                <a:latin typeface="Play"/>
                <a:ea typeface="Play"/>
                <a:cs typeface="Play"/>
                <a:sym typeface="Play"/>
              </a:rPr>
              <a:t>Profesional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3337560" y="4754880"/>
            <a:ext cx="7543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Registra información de su área según permisos y privacidad.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914400" y="6446520"/>
            <a:ext cx="103601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IMPERIA · Excelencia técnica · Formación integral · Dominio propio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B33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475488" y="25603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Play"/>
                <a:ea typeface="Play"/>
                <a:cs typeface="Play"/>
                <a:sym typeface="Play"/>
              </a:rPr>
              <a:t>IMPERIA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502920" y="493776"/>
            <a:ext cx="12801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ACADEMY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p10"/>
          <p:cNvCxnSpPr/>
          <p:nvPr/>
        </p:nvCxnSpPr>
        <p:spPr>
          <a:xfrm>
            <a:off x="457200" y="658368"/>
            <a:ext cx="11247120" cy="0"/>
          </a:xfrm>
          <a:prstGeom prst="straightConnector1">
            <a:avLst/>
          </a:prstGeom>
          <a:noFill/>
          <a:ln cap="flat" cmpd="sng" w="1015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10"/>
          <p:cNvSpPr/>
          <p:nvPr/>
        </p:nvSpPr>
        <p:spPr>
          <a:xfrm>
            <a:off x="8321040" y="283464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5E9E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E5E9EF"/>
                </a:solidFill>
                <a:latin typeface="Arial"/>
                <a:ea typeface="Arial"/>
                <a:cs typeface="Arial"/>
                <a:sym typeface="Arial"/>
              </a:rPr>
              <a:t>PERFIL DEPORTIVO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685800" y="868680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Perfil de evolución del deportista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713232" y="1353312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rPr>
              <a:t>No solo pagos: los padres deben ver el proceso deportivo.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777240" y="1828800"/>
            <a:ext cx="3337560" cy="3246120"/>
          </a:xfrm>
          <a:prstGeom prst="roundRect">
            <a:avLst>
              <a:gd fmla="val 1690" name="adj"/>
            </a:avLst>
          </a:prstGeom>
          <a:solidFill>
            <a:srgbClr val="101F38"/>
          </a:solidFill>
          <a:ln cap="flat" cmpd="sng" w="15225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941832" y="1993392"/>
            <a:ext cx="30083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Play"/>
                <a:ea typeface="Play"/>
                <a:cs typeface="Play"/>
                <a:sym typeface="Play"/>
              </a:rPr>
              <a:t>Objetivos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941832" y="2395728"/>
            <a:ext cx="3008376" cy="25328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Metas del mes o ciclo de trabajo.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Elementos en desarrollo.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Prioridades del entrenador.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4434840" y="1828800"/>
            <a:ext cx="3337560" cy="3246120"/>
          </a:xfrm>
          <a:prstGeom prst="roundRect">
            <a:avLst>
              <a:gd fmla="val 1690" name="adj"/>
            </a:avLst>
          </a:prstGeom>
          <a:solidFill>
            <a:srgbClr val="101F38"/>
          </a:solidFill>
          <a:ln cap="flat" cmpd="sng" w="15225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4599432" y="1993392"/>
            <a:ext cx="30083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Play"/>
                <a:ea typeface="Play"/>
                <a:cs typeface="Play"/>
                <a:sym typeface="Play"/>
              </a:rPr>
              <a:t>Evolución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4599432" y="2395728"/>
            <a:ext cx="3008376" cy="25328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Avances observados.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Aspectos por mejorar.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Historial básico de seguimiento.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8092440" y="1828800"/>
            <a:ext cx="3337560" cy="3246120"/>
          </a:xfrm>
          <a:prstGeom prst="roundRect">
            <a:avLst>
              <a:gd fmla="val 1690" name="adj"/>
            </a:avLst>
          </a:prstGeom>
          <a:solidFill>
            <a:srgbClr val="101F38"/>
          </a:solidFill>
          <a:ln cap="flat" cmpd="sng" w="15225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8257032" y="1993392"/>
            <a:ext cx="30083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Play"/>
                <a:ea typeface="Play"/>
                <a:cs typeface="Play"/>
                <a:sym typeface="Play"/>
              </a:rPr>
              <a:t>Gestión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8257032" y="2395728"/>
            <a:ext cx="3008376" cy="25328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 contratado.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Servicios activos.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Pagos e historial.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Asistencia futura.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914400" y="5440680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Cuidar permisos: psicología, salud y datos sensibles no deben quedar visibles para todos.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914400" y="6446520"/>
            <a:ext cx="103601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IMPERIA · Excelencia técnica · Formación integral · Dominio propio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475488" y="25603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0A1B33"/>
                </a:solidFill>
                <a:latin typeface="Play"/>
                <a:ea typeface="Play"/>
                <a:cs typeface="Play"/>
                <a:sym typeface="Play"/>
              </a:rPr>
              <a:t>IMPERIA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502920" y="493776"/>
            <a:ext cx="12801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rPr>
              <a:t>ACADEMY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" name="Google Shape;227;p9"/>
          <p:cNvCxnSpPr/>
          <p:nvPr/>
        </p:nvCxnSpPr>
        <p:spPr>
          <a:xfrm>
            <a:off x="457200" y="658368"/>
            <a:ext cx="11247120" cy="0"/>
          </a:xfrm>
          <a:prstGeom prst="straightConnector1">
            <a:avLst/>
          </a:prstGeom>
          <a:noFill/>
          <a:ln cap="flat" cmpd="sng" w="1015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9"/>
          <p:cNvSpPr/>
          <p:nvPr/>
        </p:nvSpPr>
        <p:spPr>
          <a:xfrm>
            <a:off x="8321040" y="283464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FLUJO DIGITAL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685800" y="868680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A1B33"/>
                </a:solidFill>
                <a:latin typeface="Play"/>
                <a:ea typeface="Play"/>
                <a:cs typeface="Play"/>
                <a:sym typeface="Play"/>
              </a:rPr>
              <a:t>Recorrido ideal del padre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713232" y="1353312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La experiencia debe ser clara incluso para alguien que no conoce IMPERIA.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1124712" y="1920240"/>
            <a:ext cx="676656" cy="676656"/>
          </a:xfrm>
          <a:prstGeom prst="ellipse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1124712" y="2084832"/>
            <a:ext cx="6766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0A1B33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685800" y="2779776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A1B33"/>
                </a:solidFill>
                <a:latin typeface="Arial"/>
                <a:ea typeface="Arial"/>
                <a:cs typeface="Arial"/>
                <a:sym typeface="Arial"/>
              </a:rPr>
              <a:t>Conoce IMPERIA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p9"/>
          <p:cNvCxnSpPr/>
          <p:nvPr/>
        </p:nvCxnSpPr>
        <p:spPr>
          <a:xfrm>
            <a:off x="1892808" y="2258568"/>
            <a:ext cx="685800" cy="0"/>
          </a:xfrm>
          <a:prstGeom prst="straightConnector1">
            <a:avLst/>
          </a:prstGeom>
          <a:noFill/>
          <a:ln cap="flat" cmpd="sng" w="15225">
            <a:solidFill>
              <a:srgbClr val="0A1B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5" name="Google Shape;235;p9"/>
          <p:cNvSpPr/>
          <p:nvPr/>
        </p:nvSpPr>
        <p:spPr>
          <a:xfrm>
            <a:off x="3026664" y="1920240"/>
            <a:ext cx="676656" cy="676656"/>
          </a:xfrm>
          <a:prstGeom prst="ellipse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3026664" y="2084832"/>
            <a:ext cx="6766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0A1B33"/>
                </a:solidFill>
                <a:latin typeface="Play"/>
                <a:ea typeface="Play"/>
                <a:cs typeface="Play"/>
                <a:sym typeface="Play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2587752" y="2779776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A1B33"/>
                </a:solidFill>
                <a:latin typeface="Arial"/>
                <a:ea typeface="Arial"/>
                <a:cs typeface="Arial"/>
                <a:sym typeface="Arial"/>
              </a:rPr>
              <a:t>Crea cuenta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" name="Google Shape;238;p9"/>
          <p:cNvCxnSpPr/>
          <p:nvPr/>
        </p:nvCxnSpPr>
        <p:spPr>
          <a:xfrm>
            <a:off x="3794760" y="2258568"/>
            <a:ext cx="685800" cy="0"/>
          </a:xfrm>
          <a:prstGeom prst="straightConnector1">
            <a:avLst/>
          </a:prstGeom>
          <a:noFill/>
          <a:ln cap="flat" cmpd="sng" w="15225">
            <a:solidFill>
              <a:srgbClr val="0A1B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9" name="Google Shape;239;p9"/>
          <p:cNvSpPr/>
          <p:nvPr/>
        </p:nvSpPr>
        <p:spPr>
          <a:xfrm>
            <a:off x="4928616" y="1920240"/>
            <a:ext cx="676656" cy="676656"/>
          </a:xfrm>
          <a:prstGeom prst="ellipse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4928616" y="2084832"/>
            <a:ext cx="6766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0A1B33"/>
                </a:solidFill>
                <a:latin typeface="Play"/>
                <a:ea typeface="Play"/>
                <a:cs typeface="Play"/>
                <a:sym typeface="Play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4489704" y="2779776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A1B33"/>
                </a:solidFill>
                <a:latin typeface="Arial"/>
                <a:ea typeface="Arial"/>
                <a:cs typeface="Arial"/>
                <a:sym typeface="Arial"/>
              </a:rPr>
              <a:t>Registra deportista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2" name="Google Shape;242;p9"/>
          <p:cNvCxnSpPr/>
          <p:nvPr/>
        </p:nvCxnSpPr>
        <p:spPr>
          <a:xfrm>
            <a:off x="5696712" y="2258568"/>
            <a:ext cx="685800" cy="0"/>
          </a:xfrm>
          <a:prstGeom prst="straightConnector1">
            <a:avLst/>
          </a:prstGeom>
          <a:noFill/>
          <a:ln cap="flat" cmpd="sng" w="15225">
            <a:solidFill>
              <a:srgbClr val="0A1B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3" name="Google Shape;243;p9"/>
          <p:cNvSpPr/>
          <p:nvPr/>
        </p:nvSpPr>
        <p:spPr>
          <a:xfrm>
            <a:off x="6830568" y="1920240"/>
            <a:ext cx="676656" cy="676656"/>
          </a:xfrm>
          <a:prstGeom prst="ellipse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6830568" y="2084832"/>
            <a:ext cx="6766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0A1B33"/>
                </a:solidFill>
                <a:latin typeface="Play"/>
                <a:ea typeface="Play"/>
                <a:cs typeface="Play"/>
                <a:sym typeface="Play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6391656" y="2779776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A1B33"/>
                </a:solidFill>
                <a:latin typeface="Arial"/>
                <a:ea typeface="Arial"/>
                <a:cs typeface="Arial"/>
                <a:sym typeface="Arial"/>
              </a:rPr>
              <a:t>Elige núcleo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6" name="Google Shape;246;p9"/>
          <p:cNvCxnSpPr/>
          <p:nvPr/>
        </p:nvCxnSpPr>
        <p:spPr>
          <a:xfrm>
            <a:off x="7598664" y="2258568"/>
            <a:ext cx="685800" cy="0"/>
          </a:xfrm>
          <a:prstGeom prst="straightConnector1">
            <a:avLst/>
          </a:prstGeom>
          <a:noFill/>
          <a:ln cap="flat" cmpd="sng" w="15225">
            <a:solidFill>
              <a:srgbClr val="0A1B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7" name="Google Shape;247;p9"/>
          <p:cNvSpPr/>
          <p:nvPr/>
        </p:nvSpPr>
        <p:spPr>
          <a:xfrm>
            <a:off x="8732520" y="1920240"/>
            <a:ext cx="676656" cy="676656"/>
          </a:xfrm>
          <a:prstGeom prst="ellipse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8732520" y="2084832"/>
            <a:ext cx="6766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0A1B33"/>
                </a:solidFill>
                <a:latin typeface="Play"/>
                <a:ea typeface="Play"/>
                <a:cs typeface="Play"/>
                <a:sym typeface="Play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8293608" y="2779776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A1B33"/>
                </a:solidFill>
                <a:latin typeface="Arial"/>
                <a:ea typeface="Arial"/>
                <a:cs typeface="Arial"/>
                <a:sym typeface="Arial"/>
              </a:rPr>
              <a:t>Agrega servicios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" name="Google Shape;250;p9"/>
          <p:cNvCxnSpPr/>
          <p:nvPr/>
        </p:nvCxnSpPr>
        <p:spPr>
          <a:xfrm>
            <a:off x="9500616" y="2258568"/>
            <a:ext cx="685800" cy="0"/>
          </a:xfrm>
          <a:prstGeom prst="straightConnector1">
            <a:avLst/>
          </a:prstGeom>
          <a:noFill/>
          <a:ln cap="flat" cmpd="sng" w="15225">
            <a:solidFill>
              <a:srgbClr val="0A1B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1" name="Google Shape;251;p9"/>
          <p:cNvSpPr/>
          <p:nvPr/>
        </p:nvSpPr>
        <p:spPr>
          <a:xfrm>
            <a:off x="10634472" y="1920240"/>
            <a:ext cx="676656" cy="676656"/>
          </a:xfrm>
          <a:prstGeom prst="ellipse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10634472" y="2084832"/>
            <a:ext cx="6766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0A1B33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10195560" y="2779776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A1B33"/>
                </a:solidFill>
                <a:latin typeface="Arial"/>
                <a:ea typeface="Arial"/>
                <a:cs typeface="Arial"/>
                <a:sym typeface="Arial"/>
              </a:rPr>
              <a:t>Paga y consulta evolución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2011680" y="4160520"/>
            <a:ext cx="8183880" cy="1005840"/>
          </a:xfrm>
          <a:prstGeom prst="roundRect">
            <a:avLst>
              <a:gd fmla="val 5455" name="adj"/>
            </a:avLst>
          </a:prstGeom>
          <a:solidFill>
            <a:srgbClr val="F8F9FB"/>
          </a:solidFill>
          <a:ln cap="flat" cmpd="sng" w="15225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2176272" y="4325112"/>
            <a:ext cx="78546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0A1B33"/>
                </a:solidFill>
                <a:latin typeface="Play"/>
                <a:ea typeface="Play"/>
                <a:cs typeface="Play"/>
                <a:sym typeface="Play"/>
              </a:rPr>
              <a:t>Prueba de octubre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2176272" y="4727448"/>
            <a:ext cx="78546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Un usuario debe poder recorrer todo el flujo aunque visualmente aún falten ajustes.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914400" y="6446520"/>
            <a:ext cx="103601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A1B33"/>
                </a:solidFill>
                <a:latin typeface="Arial"/>
                <a:ea typeface="Arial"/>
                <a:cs typeface="Arial"/>
                <a:sym typeface="Arial"/>
              </a:rPr>
              <a:t>IMPERIA · Excelencia técnica · Formación integral · Dominio propio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475488" y="25603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0A1B33"/>
                </a:solidFill>
                <a:latin typeface="Play"/>
                <a:ea typeface="Play"/>
                <a:cs typeface="Play"/>
                <a:sym typeface="Play"/>
              </a:rPr>
              <a:t>IMPERIA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502920" y="493776"/>
            <a:ext cx="12801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rPr>
              <a:t>ACADEMY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" name="Google Shape;266;p11"/>
          <p:cNvCxnSpPr/>
          <p:nvPr/>
        </p:nvCxnSpPr>
        <p:spPr>
          <a:xfrm>
            <a:off x="457200" y="658368"/>
            <a:ext cx="11247120" cy="0"/>
          </a:xfrm>
          <a:prstGeom prst="straightConnector1">
            <a:avLst/>
          </a:prstGeom>
          <a:noFill/>
          <a:ln cap="flat" cmpd="sng" w="1015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p11"/>
          <p:cNvSpPr/>
          <p:nvPr/>
        </p:nvSpPr>
        <p:spPr>
          <a:xfrm>
            <a:off x="8321040" y="283464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MARCA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685800" y="868680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A1B33"/>
                </a:solidFill>
                <a:latin typeface="Play"/>
                <a:ea typeface="Play"/>
                <a:cs typeface="Play"/>
                <a:sym typeface="Play"/>
              </a:rPr>
              <a:t>Identidad visual vigente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713232" y="1353312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Premium, deportiva, seria y escalable a alto rendimiento multidisciplinario.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IMPERIA_logo_azul_dorado_mismo_diseno.png" id="270" name="Google Shape;27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3080" y="2057400"/>
            <a:ext cx="1965960" cy="196596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1"/>
          <p:cNvSpPr/>
          <p:nvPr/>
        </p:nvSpPr>
        <p:spPr>
          <a:xfrm>
            <a:off x="5577840" y="1874520"/>
            <a:ext cx="1097280" cy="1097280"/>
          </a:xfrm>
          <a:prstGeom prst="rect">
            <a:avLst/>
          </a:prstGeom>
          <a:solidFill>
            <a:srgbClr val="0A1B33"/>
          </a:solidFill>
          <a:ln cap="flat" cmpd="sng" w="12700">
            <a:solidFill>
              <a:srgbClr val="E5E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5486400" y="3136392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A1B33"/>
                </a:solidFill>
                <a:latin typeface="Arial"/>
                <a:ea typeface="Arial"/>
                <a:cs typeface="Arial"/>
                <a:sym typeface="Arial"/>
              </a:rPr>
              <a:t>Azul marino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5486400" y="3364992"/>
            <a:ext cx="12801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#0A1B33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6995160" y="1874520"/>
            <a:ext cx="1097280" cy="1097280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E5E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6903720" y="3136392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A1B33"/>
                </a:solidFill>
                <a:latin typeface="Arial"/>
                <a:ea typeface="Arial"/>
                <a:cs typeface="Arial"/>
                <a:sym typeface="Arial"/>
              </a:rPr>
              <a:t>Dorado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6903720" y="3364992"/>
            <a:ext cx="12801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#D4AF37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8412480" y="1874520"/>
            <a:ext cx="109728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8321040" y="3136392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A1B33"/>
                </a:solidFill>
                <a:latin typeface="Arial"/>
                <a:ea typeface="Arial"/>
                <a:cs typeface="Arial"/>
                <a:sym typeface="Arial"/>
              </a:rPr>
              <a:t>Blanco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8321040" y="3364992"/>
            <a:ext cx="12801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#FFFFFF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9829800" y="1874520"/>
            <a:ext cx="1097280" cy="109728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E5E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9738360" y="3136392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A1B33"/>
                </a:solidFill>
                <a:latin typeface="Arial"/>
                <a:ea typeface="Arial"/>
                <a:cs typeface="Arial"/>
                <a:sym typeface="Arial"/>
              </a:rPr>
              <a:t>Negro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9738360" y="3364992"/>
            <a:ext cx="12801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#000000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5577840" y="3977640"/>
            <a:ext cx="5440680" cy="1097280"/>
          </a:xfrm>
          <a:prstGeom prst="roundRect">
            <a:avLst>
              <a:gd fmla="val 5000" name="adj"/>
            </a:avLst>
          </a:prstGeom>
          <a:solidFill>
            <a:srgbClr val="F8F9FB"/>
          </a:solidFill>
          <a:ln cap="flat" cmpd="sng" w="15225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5742432" y="4142232"/>
            <a:ext cx="51114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0A1B33"/>
                </a:solidFill>
                <a:latin typeface="Play"/>
                <a:ea typeface="Play"/>
                <a:cs typeface="Play"/>
                <a:sym typeface="Play"/>
              </a:rPr>
              <a:t>Regla de uso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5742432" y="4544568"/>
            <a:ext cx="51114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El dorado es acento premium, no fondo dominante. La web debe respirar con blanco y usar azul marino para impacto.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914400" y="6446520"/>
            <a:ext cx="103601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A1B33"/>
                </a:solidFill>
                <a:latin typeface="Arial"/>
                <a:ea typeface="Arial"/>
                <a:cs typeface="Arial"/>
                <a:sym typeface="Arial"/>
              </a:rPr>
              <a:t>IMPERIA · Excelencia técnica · Formación integral · Dominio propio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475488" y="25603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0A1B33"/>
                </a:solidFill>
                <a:latin typeface="Play"/>
                <a:ea typeface="Play"/>
                <a:cs typeface="Play"/>
                <a:sym typeface="Play"/>
              </a:rPr>
              <a:t>IMPERIA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502920" y="493776"/>
            <a:ext cx="12801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rPr>
              <a:t>ACADEMY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5" name="Google Shape;295;p12"/>
          <p:cNvCxnSpPr/>
          <p:nvPr/>
        </p:nvCxnSpPr>
        <p:spPr>
          <a:xfrm>
            <a:off x="457200" y="658368"/>
            <a:ext cx="11247120" cy="0"/>
          </a:xfrm>
          <a:prstGeom prst="straightConnector1">
            <a:avLst/>
          </a:prstGeom>
          <a:noFill/>
          <a:ln cap="flat" cmpd="sng" w="1015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12"/>
          <p:cNvSpPr/>
          <p:nvPr/>
        </p:nvSpPr>
        <p:spPr>
          <a:xfrm>
            <a:off x="8321040" y="283464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PENDIENTES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685800" y="868680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A1B33"/>
                </a:solidFill>
                <a:latin typeface="Play"/>
                <a:ea typeface="Play"/>
                <a:cs typeface="Play"/>
                <a:sym typeface="Play"/>
              </a:rPr>
              <a:t>Decisiones que NO deben inventarse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713232" y="1353312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6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Si no está confirmado por IMPERIA, queda como pendiente y no se programa como definitivo.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914400" y="1874520"/>
            <a:ext cx="103327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Precio y alcance de profesionales individuales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Tarifas de clases privadas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Tarifas de coreografías 2027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Modalidad fin de semana: confirmar si se ofrece y en qué condiciones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72126"/>
                </a:solidFill>
                <a:latin typeface="Arial"/>
                <a:ea typeface="Arial"/>
                <a:cs typeface="Arial"/>
                <a:sym typeface="Arial"/>
              </a:rPr>
              <a:t>Funciones Fase 2: videos, asistencia avanzada, agenda, app móvil, fisio/nutrición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2103120" y="5257800"/>
            <a:ext cx="8001000" cy="502920"/>
          </a:xfrm>
          <a:prstGeom prst="roundRect">
            <a:avLst>
              <a:gd fmla="val 9091" name="adj"/>
            </a:avLst>
          </a:prstGeom>
          <a:solidFill>
            <a:srgbClr val="0A1B33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2240280" y="5413248"/>
            <a:ext cx="7726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Todo precio o servicio nuevo debe ser aprobado antes de entrar al diseño final.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914400" y="6446520"/>
            <a:ext cx="103601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B3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0A1B33"/>
                </a:solidFill>
                <a:latin typeface="Arial"/>
                <a:ea typeface="Arial"/>
                <a:cs typeface="Arial"/>
                <a:sym typeface="Arial"/>
              </a:rPr>
              <a:t>IMPERIA · Excelencia técnica · Formación integral · Dominio propio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B33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"/>
          <p:cNvSpPr/>
          <p:nvPr/>
        </p:nvSpPr>
        <p:spPr>
          <a:xfrm>
            <a:off x="475488" y="25603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D4AF37"/>
                </a:solidFill>
                <a:latin typeface="Play"/>
                <a:ea typeface="Play"/>
                <a:cs typeface="Play"/>
                <a:sym typeface="Play"/>
              </a:rPr>
              <a:t>IMPERIA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502920" y="493776"/>
            <a:ext cx="12801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ACADEMY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p13"/>
          <p:cNvCxnSpPr/>
          <p:nvPr/>
        </p:nvCxnSpPr>
        <p:spPr>
          <a:xfrm>
            <a:off x="457200" y="658368"/>
            <a:ext cx="11247120" cy="0"/>
          </a:xfrm>
          <a:prstGeom prst="straightConnector1">
            <a:avLst/>
          </a:prstGeom>
          <a:noFill/>
          <a:ln cap="flat" cmpd="sng" w="1015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p13"/>
          <p:cNvSpPr/>
          <p:nvPr/>
        </p:nvSpPr>
        <p:spPr>
          <a:xfrm>
            <a:off x="8321040" y="283464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5E9EF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E5E9EF"/>
                </a:solidFill>
                <a:latin typeface="Arial"/>
                <a:ea typeface="Arial"/>
                <a:cs typeface="Arial"/>
                <a:sym typeface="Arial"/>
              </a:rPr>
              <a:t>PRÓXIMOS PASOS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685800" y="868680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Qué necesitamos de Morales y Muñoz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713232" y="1353312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rPr>
              <a:t>Entregables inmediatos para avanzar sin perder tiempo.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914400" y="1828800"/>
            <a:ext cx="10332720" cy="548640"/>
          </a:xfrm>
          <a:prstGeom prst="roundRect">
            <a:avLst>
              <a:gd fmla="val 8333" name="adj"/>
            </a:avLst>
          </a:prstGeom>
          <a:solidFill>
            <a:srgbClr val="101F38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1097280" y="1984248"/>
            <a:ext cx="11430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200"/>
              <a:buFont typeface="Play"/>
              <a:buNone/>
            </a:pPr>
            <a:r>
              <a:rPr b="1" lang="en-US" sz="1200">
                <a:solidFill>
                  <a:srgbClr val="D4AF37"/>
                </a:solidFill>
                <a:latin typeface="Play"/>
                <a:ea typeface="Play"/>
                <a:cs typeface="Play"/>
                <a:sym typeface="Play"/>
              </a:rPr>
              <a:t>Muñoz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2468880" y="1975104"/>
            <a:ext cx="8321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propuestas visuales de homepage: oscuro premium, claro elegante y alto rendimiento.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914400" y="2596896"/>
            <a:ext cx="10332720" cy="548640"/>
          </a:xfrm>
          <a:prstGeom prst="roundRect">
            <a:avLst>
              <a:gd fmla="val 8333" name="adj"/>
            </a:avLst>
          </a:prstGeom>
          <a:solidFill>
            <a:srgbClr val="101F38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3"/>
          <p:cNvSpPr/>
          <p:nvPr/>
        </p:nvSpPr>
        <p:spPr>
          <a:xfrm>
            <a:off x="1097280" y="2752344"/>
            <a:ext cx="11430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200"/>
              <a:buFont typeface="Play"/>
              <a:buNone/>
            </a:pPr>
            <a:r>
              <a:rPr b="1" lang="en-US" sz="1200">
                <a:solidFill>
                  <a:srgbClr val="D4AF37"/>
                </a:solidFill>
                <a:latin typeface="Play"/>
                <a:ea typeface="Play"/>
                <a:cs typeface="Play"/>
                <a:sym typeface="Play"/>
              </a:rPr>
              <a:t>Morales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2468880" y="2743200"/>
            <a:ext cx="8321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Propuesta de arquitectura MVP: cloud, pagos, base de datos, seguridad y cronograma.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914400" y="3364992"/>
            <a:ext cx="10332720" cy="548640"/>
          </a:xfrm>
          <a:prstGeom prst="roundRect">
            <a:avLst>
              <a:gd fmla="val 8333" name="adj"/>
            </a:avLst>
          </a:prstGeom>
          <a:solidFill>
            <a:srgbClr val="101F38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1097280" y="3520440"/>
            <a:ext cx="11430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200"/>
              <a:buFont typeface="Play"/>
              <a:buNone/>
            </a:pPr>
            <a:r>
              <a:rPr b="1" lang="en-US" sz="1200">
                <a:solidFill>
                  <a:srgbClr val="D4AF37"/>
                </a:solidFill>
                <a:latin typeface="Play"/>
                <a:ea typeface="Play"/>
                <a:cs typeface="Play"/>
                <a:sym typeface="Play"/>
              </a:rPr>
              <a:t>Ambos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2468880" y="3511296"/>
            <a:ext cx="8321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Primera versión navegable del flujo principal para probar antes de enero.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914400" y="4133088"/>
            <a:ext cx="10332720" cy="548640"/>
          </a:xfrm>
          <a:prstGeom prst="roundRect">
            <a:avLst>
              <a:gd fmla="val 8333" name="adj"/>
            </a:avLst>
          </a:prstGeom>
          <a:solidFill>
            <a:srgbClr val="101F38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3"/>
          <p:cNvSpPr/>
          <p:nvPr/>
        </p:nvSpPr>
        <p:spPr>
          <a:xfrm>
            <a:off x="1097280" y="4288536"/>
            <a:ext cx="11430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200"/>
              <a:buFont typeface="Play"/>
              <a:buNone/>
            </a:pPr>
            <a:r>
              <a:rPr b="1" lang="en-US" sz="1200">
                <a:solidFill>
                  <a:srgbClr val="D4AF37"/>
                </a:solidFill>
                <a:latin typeface="Play"/>
                <a:ea typeface="Play"/>
                <a:cs typeface="Play"/>
                <a:sym typeface="Play"/>
              </a:rPr>
              <a:t>IMPERIA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2468880" y="4279392"/>
            <a:ext cx="8321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Cerrar documento de alcance MVP, precios vigentes y material final de padres.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914400" y="6446520"/>
            <a:ext cx="103601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IMPERIA · Excelencia técnica · Formación integral · Dominio propio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B33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4"/>
          <p:cNvSpPr/>
          <p:nvPr/>
        </p:nvSpPr>
        <p:spPr>
          <a:xfrm>
            <a:off x="475488" y="25603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D4AF37"/>
                </a:solidFill>
                <a:latin typeface="Play"/>
                <a:ea typeface="Play"/>
                <a:cs typeface="Play"/>
                <a:sym typeface="Play"/>
              </a:rPr>
              <a:t>IMPERIA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502920" y="493776"/>
            <a:ext cx="12801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ACADEMY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6" name="Google Shape;336;p14"/>
          <p:cNvCxnSpPr/>
          <p:nvPr/>
        </p:nvCxnSpPr>
        <p:spPr>
          <a:xfrm>
            <a:off x="457200" y="658368"/>
            <a:ext cx="11247120" cy="0"/>
          </a:xfrm>
          <a:prstGeom prst="straightConnector1">
            <a:avLst/>
          </a:prstGeom>
          <a:noFill/>
          <a:ln cap="flat" cmpd="sng" w="1015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14"/>
          <p:cNvSpPr/>
          <p:nvPr/>
        </p:nvSpPr>
        <p:spPr>
          <a:xfrm>
            <a:off x="8321040" y="283464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5E9EF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E5E9EF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IMPERIA_logo_azul_dorado_mismo_diseno.png" id="338" name="Google Shape;33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49240" y="1051560"/>
            <a:ext cx="1508760" cy="15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4"/>
          <p:cNvSpPr/>
          <p:nvPr/>
        </p:nvSpPr>
        <p:spPr>
          <a:xfrm>
            <a:off x="1005840" y="3337560"/>
            <a:ext cx="10149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Una sola marca. Una sola versión vigente. Un MVP claro.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1417320" y="3886200"/>
            <a:ext cx="9372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rPr>
              <a:t>Este Drive debe ayudar a construir IMPERIA, no a confundir el proyecto.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914400" y="6446520"/>
            <a:ext cx="103601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IMPERIA · Excelencia técnica · Formación integral · Dominio propio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2026-08-19T00:39:56Z</dcterms:created>
  <dc:creator>IMPERIA</dc:creator>
</cp:coreProperties>
</file>