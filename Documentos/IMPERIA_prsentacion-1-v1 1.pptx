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70" r:id="rId5"/>
    <p:sldId id="258" r:id="rId6"/>
    <p:sldId id="272" r:id="rId7"/>
    <p:sldId id="266" r:id="rId8"/>
    <p:sldId id="271" r:id="rId9"/>
    <p:sldId id="269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B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608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1.png"/><Relationship Id="rId10" Type="http://schemas.openxmlformats.org/officeDocument/2006/relationships/image" Target="../media/image25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" name="Image 0" descr="/mnt/data/IMPERIA_logo_azul_dorado_mismo_dise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399" y="1698196"/>
            <a:ext cx="3385868" cy="33858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731520" y="2852928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88720" y="3410712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88720" y="3867912"/>
            <a:ext cx="9811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246120" y="4846320"/>
            <a:ext cx="5715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IMPERIA · Excelencia técnica · Formación integral · Dominio propio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 rot="19897893">
            <a:off x="2246974" y="1378784"/>
            <a:ext cx="2441665" cy="2497964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24840" y="388043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Luis Sebastián Morales Combariza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3604" y="440967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Backend · Ingeniero de Sistemas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7992" y="4869180"/>
            <a:ext cx="1774646" cy="45719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903720" y="1051560"/>
            <a:ext cx="4663440" cy="1170432"/>
          </a:xfrm>
          <a:prstGeom prst="roundRect">
            <a:avLst>
              <a:gd name="adj" fmla="val 6250"/>
            </a:avLst>
          </a:prstGeom>
          <a:solidFill>
            <a:srgbClr val="0A1B33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7104888" y="1325880"/>
            <a:ext cx="621792" cy="62179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0" descr="icons/briefc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1472184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09560" y="12161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 años de experiencia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909560" y="1600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backend en proyectos empresariales de gran escala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903720" y="2386584"/>
            <a:ext cx="4663440" cy="1170432"/>
          </a:xfrm>
          <a:prstGeom prst="roundRect">
            <a:avLst>
              <a:gd name="adj" fmla="val 6250"/>
            </a:avLst>
          </a:prstGeom>
          <a:solidFill>
            <a:srgbClr val="0A1B33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7104888" y="2660904"/>
            <a:ext cx="621792" cy="62179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1" descr="icons/build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280720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09560" y="255117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909560" y="29352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Enel · Telefónica · Davivienda, entre otras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903720" y="3721608"/>
            <a:ext cx="4663440" cy="1170432"/>
          </a:xfrm>
          <a:prstGeom prst="roundRect">
            <a:avLst>
              <a:gd name="adj" fmla="val 6250"/>
            </a:avLst>
          </a:prstGeom>
          <a:solidFill>
            <a:srgbClr val="0A1B33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21" name="Shape 17"/>
          <p:cNvSpPr/>
          <p:nvPr/>
        </p:nvSpPr>
        <p:spPr>
          <a:xfrm>
            <a:off x="7104888" y="3995928"/>
            <a:ext cx="621792" cy="62179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2" name="Image 2" descr="icons/academ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4142232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909560" y="3886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Ingeniero de Sistemas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909560" y="42702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Politécnico Grancolombiano, con diplomado en diseño y desarrollo de software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903720" y="5056632"/>
            <a:ext cx="4663440" cy="1170432"/>
          </a:xfrm>
          <a:prstGeom prst="roundRect">
            <a:avLst>
              <a:gd name="adj" fmla="val 6250"/>
            </a:avLst>
          </a:prstGeom>
          <a:solidFill>
            <a:srgbClr val="0A1B33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s-CO" dirty="0"/>
          </a:p>
        </p:txBody>
      </p:sp>
      <p:sp>
        <p:nvSpPr>
          <p:cNvPr id="26" name="Shape 21"/>
          <p:cNvSpPr/>
          <p:nvPr/>
        </p:nvSpPr>
        <p:spPr>
          <a:xfrm>
            <a:off x="7104888" y="5330952"/>
            <a:ext cx="621792" cy="62179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7" name="Image 3" descr="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1192" y="5477256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909560" y="52212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Especialización en IA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909560" y="560527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continua actualmente en curso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36" name="Image 0" descr="assets/logo.png">
            <a:extLst>
              <a:ext uri="{FF2B5EF4-FFF2-40B4-BE49-F238E27FC236}">
                <a16:creationId xmlns:a16="http://schemas.microsoft.com/office/drawing/2014/main" id="{1B1B1414-26CE-8FE9-534D-8798F844F1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0" y="50292"/>
            <a:ext cx="1417320" cy="1417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IMPERIA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ACADEMY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47120" cy="0"/>
          </a:xfrm>
          <a:prstGeom prst="line">
            <a:avLst/>
          </a:prstGeom>
          <a:noFill/>
          <a:ln w="1016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8686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¿El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6596" y="2057400"/>
            <a:ext cx="2705244" cy="274320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524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64866" y="2057400"/>
            <a:ext cx="2606040" cy="274320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524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730752" y="222199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30752" y="2624328"/>
            <a:ext cx="2276856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2057400"/>
            <a:ext cx="2606040" cy="274320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524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9326880" y="2057400"/>
            <a:ext cx="2606040" cy="274320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524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491472" y="222199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555843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pobre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deportistas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acudientes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IMPERIA · Excelencia técnica · Formación integral · Dominio propio</a:t>
            </a:r>
            <a:endParaRPr lang="en-US" sz="80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85733CDE-4369-93E2-BDEF-07ABD66C1E82}"/>
              </a:ext>
            </a:extLst>
          </p:cNvPr>
          <p:cNvSpPr/>
          <p:nvPr/>
        </p:nvSpPr>
        <p:spPr>
          <a:xfrm>
            <a:off x="1636776" y="2352559"/>
            <a:ext cx="731520" cy="691978"/>
          </a:xfrm>
          <a:prstGeom prst="ellipse">
            <a:avLst/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0" name="Image 0" descr="icons/excel_white.png">
            <a:extLst>
              <a:ext uri="{FF2B5EF4-FFF2-40B4-BE49-F238E27FC236}">
                <a16:creationId xmlns:a16="http://schemas.microsoft.com/office/drawing/2014/main" id="{55D4FCDC-295C-ACCF-17B7-DA419711C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73" y="2519779"/>
            <a:ext cx="386715" cy="386715"/>
          </a:xfrm>
          <a:prstGeom prst="rect">
            <a:avLst/>
          </a:prstGeom>
        </p:spPr>
      </p:pic>
      <p:sp>
        <p:nvSpPr>
          <p:cNvPr id="32" name="Text 4">
            <a:extLst>
              <a:ext uri="{FF2B5EF4-FFF2-40B4-BE49-F238E27FC236}">
                <a16:creationId xmlns:a16="http://schemas.microsoft.com/office/drawing/2014/main" id="{AE80BAA1-CCD9-337C-EE2F-C39E29C7801E}"/>
              </a:ext>
            </a:extLst>
          </p:cNvPr>
          <p:cNvSpPr/>
          <p:nvPr/>
        </p:nvSpPr>
        <p:spPr>
          <a:xfrm>
            <a:off x="877824" y="3266530"/>
            <a:ext cx="2249424" cy="648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Hojas de cálculo dispersas</a:t>
            </a:r>
            <a:endParaRPr lang="en-US" sz="145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C5D6B9D2-B87B-FD35-33D6-58F60A4441DA}"/>
              </a:ext>
            </a:extLst>
          </p:cNvPr>
          <p:cNvSpPr/>
          <p:nvPr/>
        </p:nvSpPr>
        <p:spPr>
          <a:xfrm>
            <a:off x="950976" y="3669810"/>
            <a:ext cx="2176272" cy="1167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Inscripciones, pagos y asistencia en archivos separados que nadie sincroniza.</a:t>
            </a:r>
            <a:endParaRPr lang="en-US" sz="1100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88E75F1F-0BE5-B9F6-51ED-E6036DB19122}"/>
              </a:ext>
            </a:extLst>
          </p:cNvPr>
          <p:cNvSpPr/>
          <p:nvPr/>
        </p:nvSpPr>
        <p:spPr>
          <a:xfrm>
            <a:off x="4441396" y="2330858"/>
            <a:ext cx="731520" cy="731520"/>
          </a:xfrm>
          <a:prstGeom prst="ellipse">
            <a:avLst/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8" name="Image 1" descr="icons/chat_white.png">
            <a:extLst>
              <a:ext uri="{FF2B5EF4-FFF2-40B4-BE49-F238E27FC236}">
                <a16:creationId xmlns:a16="http://schemas.microsoft.com/office/drawing/2014/main" id="{2357983E-31E5-7A69-2A1B-DF54D59FB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564" y="2532026"/>
            <a:ext cx="329184" cy="329184"/>
          </a:xfrm>
          <a:prstGeom prst="rect">
            <a:avLst/>
          </a:prstGeom>
        </p:spPr>
      </p:pic>
      <p:sp>
        <p:nvSpPr>
          <p:cNvPr id="40" name="Text 8">
            <a:extLst>
              <a:ext uri="{FF2B5EF4-FFF2-40B4-BE49-F238E27FC236}">
                <a16:creationId xmlns:a16="http://schemas.microsoft.com/office/drawing/2014/main" id="{11B38AA0-E1B9-A163-F434-293B65CF970B}"/>
              </a:ext>
            </a:extLst>
          </p:cNvPr>
          <p:cNvSpPr/>
          <p:nvPr/>
        </p:nvSpPr>
        <p:spPr>
          <a:xfrm>
            <a:off x="3682444" y="3245258"/>
            <a:ext cx="22494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fragmentada</a:t>
            </a:r>
            <a:endParaRPr lang="en-US" sz="1450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76D5514C-36DB-5442-312D-0331947A19F2}"/>
              </a:ext>
            </a:extLst>
          </p:cNvPr>
          <p:cNvSpPr/>
          <p:nvPr/>
        </p:nvSpPr>
        <p:spPr>
          <a:xfrm>
            <a:off x="4012145" y="3695900"/>
            <a:ext cx="1711481" cy="1050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y llamadas para coordinar horarios, avisos y pagos pendientes.</a:t>
            </a:r>
            <a:endParaRPr lang="en-US" sz="1100" dirty="0"/>
          </a:p>
        </p:txBody>
      </p:sp>
      <p:sp>
        <p:nvSpPr>
          <p:cNvPr id="52" name="Shape 11">
            <a:extLst>
              <a:ext uri="{FF2B5EF4-FFF2-40B4-BE49-F238E27FC236}">
                <a16:creationId xmlns:a16="http://schemas.microsoft.com/office/drawing/2014/main" id="{55143E64-8423-739F-6924-31D2048326E3}"/>
              </a:ext>
            </a:extLst>
          </p:cNvPr>
          <p:cNvSpPr/>
          <p:nvPr/>
        </p:nvSpPr>
        <p:spPr>
          <a:xfrm>
            <a:off x="7422682" y="2348113"/>
            <a:ext cx="731520" cy="731520"/>
          </a:xfrm>
          <a:prstGeom prst="ellipse">
            <a:avLst/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4" name="Image 2" descr="icons/warning_white.png">
            <a:extLst>
              <a:ext uri="{FF2B5EF4-FFF2-40B4-BE49-F238E27FC236}">
                <a16:creationId xmlns:a16="http://schemas.microsoft.com/office/drawing/2014/main" id="{5685C7D8-E71E-5F07-7999-55EB03CDF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3850" y="2549281"/>
            <a:ext cx="329184" cy="329184"/>
          </a:xfrm>
          <a:prstGeom prst="rect">
            <a:avLst/>
          </a:prstGeom>
        </p:spPr>
      </p:pic>
      <p:sp>
        <p:nvSpPr>
          <p:cNvPr id="56" name="Text 12">
            <a:extLst>
              <a:ext uri="{FF2B5EF4-FFF2-40B4-BE49-F238E27FC236}">
                <a16:creationId xmlns:a16="http://schemas.microsoft.com/office/drawing/2014/main" id="{2D104477-6ADE-1F99-3FF9-6309DF80F9D8}"/>
              </a:ext>
            </a:extLst>
          </p:cNvPr>
          <p:cNvSpPr/>
          <p:nvPr/>
        </p:nvSpPr>
        <p:spPr>
          <a:xfrm>
            <a:off x="6663730" y="3262513"/>
            <a:ext cx="22494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trazabilidad</a:t>
            </a:r>
            <a:endParaRPr lang="en-US" sz="1450" dirty="0"/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16C75CE0-0FA4-D50E-769B-C8E06AAE35F5}"/>
              </a:ext>
            </a:extLst>
          </p:cNvPr>
          <p:cNvSpPr/>
          <p:nvPr/>
        </p:nvSpPr>
        <p:spPr>
          <a:xfrm>
            <a:off x="6700306" y="3605413"/>
            <a:ext cx="21762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historial de progreso deportivo, evaluaciones o asistencia por alumno.</a:t>
            </a:r>
            <a:endParaRPr lang="en-US" sz="1100" dirty="0"/>
          </a:p>
        </p:txBody>
      </p:sp>
      <p:sp>
        <p:nvSpPr>
          <p:cNvPr id="60" name="Shape 15">
            <a:extLst>
              <a:ext uri="{FF2B5EF4-FFF2-40B4-BE49-F238E27FC236}">
                <a16:creationId xmlns:a16="http://schemas.microsoft.com/office/drawing/2014/main" id="{494B836F-9EF9-7E58-BFA1-FD6791D6EB56}"/>
              </a:ext>
            </a:extLst>
          </p:cNvPr>
          <p:cNvSpPr/>
          <p:nvPr/>
        </p:nvSpPr>
        <p:spPr>
          <a:xfrm>
            <a:off x="10274572" y="2356742"/>
            <a:ext cx="731520" cy="731520"/>
          </a:xfrm>
          <a:prstGeom prst="ellipse">
            <a:avLst/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2" name="Image 3" descr="icons/money_white.png">
            <a:extLst>
              <a:ext uri="{FF2B5EF4-FFF2-40B4-BE49-F238E27FC236}">
                <a16:creationId xmlns:a16="http://schemas.microsoft.com/office/drawing/2014/main" id="{1C240C85-22EB-0631-CF7D-994A3429EC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5740" y="2557910"/>
            <a:ext cx="329184" cy="329184"/>
          </a:xfrm>
          <a:prstGeom prst="rect">
            <a:avLst/>
          </a:prstGeom>
        </p:spPr>
      </p:pic>
      <p:sp>
        <p:nvSpPr>
          <p:cNvPr id="64" name="Text 16">
            <a:extLst>
              <a:ext uri="{FF2B5EF4-FFF2-40B4-BE49-F238E27FC236}">
                <a16:creationId xmlns:a16="http://schemas.microsoft.com/office/drawing/2014/main" id="{258CFA44-8995-EE89-3B51-FD65683E2F51}"/>
              </a:ext>
            </a:extLst>
          </p:cNvPr>
          <p:cNvSpPr/>
          <p:nvPr/>
        </p:nvSpPr>
        <p:spPr>
          <a:xfrm>
            <a:off x="9515620" y="3271142"/>
            <a:ext cx="22494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Cobros manuales</a:t>
            </a:r>
            <a:endParaRPr lang="en-US" sz="1450" dirty="0"/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9EE51B7B-D94B-2BD8-7CB8-E88B8661090D}"/>
              </a:ext>
            </a:extLst>
          </p:cNvPr>
          <p:cNvSpPr/>
          <p:nvPr/>
        </p:nvSpPr>
        <p:spPr>
          <a:xfrm>
            <a:off x="9552196" y="3597652"/>
            <a:ext cx="21762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Membresías y mensualidades controladas a mano, con alto riesgo de error.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88415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 para toda la operación deportiva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78608" cy="3246120"/>
          </a:xfrm>
          <a:prstGeom prst="roundRect">
            <a:avLst>
              <a:gd name="adj" fmla="val 283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s-CO" dirty="0"/>
          </a:p>
        </p:txBody>
      </p:sp>
      <p:sp>
        <p:nvSpPr>
          <p:cNvPr id="6" name="Shape 4"/>
          <p:cNvSpPr/>
          <p:nvPr/>
        </p:nvSpPr>
        <p:spPr>
          <a:xfrm>
            <a:off x="896112" y="260604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7706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4290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3931920"/>
            <a:ext cx="21762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organización opera en su propio espacio aislado y seguro dentro de la misma plataforma.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2331720"/>
            <a:ext cx="2578608" cy="3246120"/>
          </a:xfrm>
          <a:prstGeom prst="roundRect">
            <a:avLst>
              <a:gd name="adj" fmla="val 283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3730752" y="260604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1" descr="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277063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34290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75888" y="3931920"/>
            <a:ext cx="21762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(pagos, asistencia, evaluaciones...) se activa y evoluciona de forma independiente.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331720"/>
            <a:ext cx="2578608" cy="3246120"/>
          </a:xfrm>
          <a:prstGeom prst="roundRect">
            <a:avLst>
              <a:gd name="adj" fmla="val 283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16" name="Shape 12"/>
          <p:cNvSpPr/>
          <p:nvPr/>
        </p:nvSpPr>
        <p:spPr>
          <a:xfrm>
            <a:off x="6565392" y="260604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2" descr="icons/plu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77063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0528" y="34290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API-first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10528" y="3931920"/>
            <a:ext cx="21762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construye sobre una API REST, lista para integrarse con apps móviles y terceros.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44000" y="2331720"/>
            <a:ext cx="2578608" cy="3246120"/>
          </a:xfrm>
          <a:prstGeom prst="roundRect">
            <a:avLst>
              <a:gd name="adj" fmla="val 283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21" name="Shape 16"/>
          <p:cNvSpPr/>
          <p:nvPr/>
        </p:nvSpPr>
        <p:spPr>
          <a:xfrm>
            <a:off x="9400032" y="260604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2" name="Image 3" descr="icons/trend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4624" y="277063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45168" y="34290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Escalable por diseño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45168" y="3931920"/>
            <a:ext cx="21762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Pensada para crecer de una sede a cientos, y de un deporte a docenas, sin reescribirse.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IMPERIA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ACADEMY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47120" cy="0"/>
          </a:xfrm>
          <a:prstGeom prst="line">
            <a:avLst/>
          </a:prstGeom>
          <a:noFill/>
          <a:ln w="1016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IMPERIA · Excelencia técnica · Formación integral · Dominio propio</a:t>
            </a:r>
            <a:endParaRPr lang="en-US" sz="800" dirty="0"/>
          </a:p>
        </p:txBody>
      </p:sp>
      <p:pic>
        <p:nvPicPr>
          <p:cNvPr id="28" name="Image 0" descr="assets/logo.png">
            <a:extLst>
              <a:ext uri="{FF2B5EF4-FFF2-40B4-BE49-F238E27FC236}">
                <a16:creationId xmlns:a16="http://schemas.microsoft.com/office/drawing/2014/main" id="{333DDA42-1259-7F94-F711-3C7253FEC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417320"/>
            <a:ext cx="2286000" cy="2286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94ACF6DA-5107-3B77-E043-8E127BFE4EB9}"/>
              </a:ext>
            </a:extLst>
          </p:cNvPr>
          <p:cNvSpPr/>
          <p:nvPr/>
        </p:nvSpPr>
        <p:spPr>
          <a:xfrm>
            <a:off x="9464040" y="416052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2" name="Image 1" descr="icons/skating_white.png">
            <a:extLst>
              <a:ext uri="{FF2B5EF4-FFF2-40B4-BE49-F238E27FC236}">
                <a16:creationId xmlns:a16="http://schemas.microsoft.com/office/drawing/2014/main" id="{92917364-8833-B816-B4B0-0CF9FCF6B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4297680"/>
            <a:ext cx="320040" cy="320040"/>
          </a:xfrm>
          <a:prstGeom prst="rect">
            <a:avLst/>
          </a:prstGeom>
        </p:spPr>
      </p:pic>
      <p:sp>
        <p:nvSpPr>
          <p:cNvPr id="34" name="Text 2">
            <a:extLst>
              <a:ext uri="{FF2B5EF4-FFF2-40B4-BE49-F238E27FC236}">
                <a16:creationId xmlns:a16="http://schemas.microsoft.com/office/drawing/2014/main" id="{6633A5AD-4E37-824D-6E3E-4663973D683E}"/>
              </a:ext>
            </a:extLst>
          </p:cNvPr>
          <p:cNvSpPr/>
          <p:nvPr/>
        </p:nvSpPr>
        <p:spPr>
          <a:xfrm>
            <a:off x="7360920" y="4892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INCIAL: PATINAJE</a:t>
            </a:r>
            <a:endParaRPr lang="en-US" sz="105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A565FCB-0FC5-7955-9261-E6438356EB70}"/>
              </a:ext>
            </a:extLst>
          </p:cNvPr>
          <p:cNvSpPr txBox="1"/>
          <p:nvPr/>
        </p:nvSpPr>
        <p:spPr>
          <a:xfrm>
            <a:off x="806570" y="1276705"/>
            <a:ext cx="60988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Imperia Academy</a:t>
            </a:r>
            <a:endParaRPr lang="en-US" sz="27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BB31321F-68C9-FF78-320D-D2EBE565F934}"/>
              </a:ext>
            </a:extLst>
          </p:cNvPr>
          <p:cNvSpPr/>
          <p:nvPr/>
        </p:nvSpPr>
        <p:spPr>
          <a:xfrm>
            <a:off x="806570" y="1627632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Patinaje, la disciplina de Imperia Academy, será la primera configuración cargada en el sistema — no un límite de la arquitectura.</a:t>
            </a:r>
            <a:endParaRPr lang="en-US" sz="1350" dirty="0"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106860AB-11DD-0CB5-E864-B3B274B8D8EB}"/>
              </a:ext>
            </a:extLst>
          </p:cNvPr>
          <p:cNvSpPr/>
          <p:nvPr/>
        </p:nvSpPr>
        <p:spPr>
          <a:xfrm>
            <a:off x="683210" y="2936956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23FE381D-BA5B-9054-F13F-46AEE7C4D763}"/>
              </a:ext>
            </a:extLst>
          </p:cNvPr>
          <p:cNvSpPr/>
          <p:nvPr/>
        </p:nvSpPr>
        <p:spPr>
          <a:xfrm>
            <a:off x="957530" y="277236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real y acotado</a:t>
            </a:r>
            <a:endParaRPr lang="en-US" sz="140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1F7D5612-8054-B5B5-D9D9-8D6A15ED5E8D}"/>
              </a:ext>
            </a:extLst>
          </p:cNvPr>
          <p:cNvSpPr/>
          <p:nvPr/>
        </p:nvSpPr>
        <p:spPr>
          <a:xfrm>
            <a:off x="957530" y="310154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Alumnos, niveles técnicos, categorías por edad y torneos de Imperia Academy: un caso completo para probar cada módulo.</a:t>
            </a:r>
            <a:endParaRPr lang="en-US" sz="1150" dirty="0"/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75AF1703-D4B9-0E06-EE53-DC20ACAEC5DE}"/>
              </a:ext>
            </a:extLst>
          </p:cNvPr>
          <p:cNvSpPr/>
          <p:nvPr/>
        </p:nvSpPr>
        <p:spPr>
          <a:xfrm>
            <a:off x="683210" y="3805636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D494AE53-5EA7-7EEE-D678-B48915D9AC90}"/>
              </a:ext>
            </a:extLst>
          </p:cNvPr>
          <p:cNvSpPr/>
          <p:nvPr/>
        </p:nvSpPr>
        <p:spPr>
          <a:xfrm>
            <a:off x="957530" y="364104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riesgo, mismo motor</a:t>
            </a:r>
            <a:endParaRPr lang="en-US" sz="1400" dirty="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D6149103-292C-7081-28E4-00037214DB04}"/>
              </a:ext>
            </a:extLst>
          </p:cNvPr>
          <p:cNvSpPr/>
          <p:nvPr/>
        </p:nvSpPr>
        <p:spPr>
          <a:xfrm>
            <a:off x="957530" y="397022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y valida la plataforma genérica resolviendo un problema concreto y medible.</a:t>
            </a:r>
            <a:endParaRPr lang="en-US" sz="1150" dirty="0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62FFA558-F904-E552-3076-8BB7E94C4F15}"/>
              </a:ext>
            </a:extLst>
          </p:cNvPr>
          <p:cNvSpPr/>
          <p:nvPr/>
        </p:nvSpPr>
        <p:spPr>
          <a:xfrm>
            <a:off x="683210" y="4674316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F10EF380-1ABF-4F6B-7367-76534FC87E6B}"/>
              </a:ext>
            </a:extLst>
          </p:cNvPr>
          <p:cNvSpPr/>
          <p:nvPr/>
        </p:nvSpPr>
        <p:spPr>
          <a:xfrm>
            <a:off x="957530" y="450972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Puerta de entrada al resto</a:t>
            </a:r>
            <a:endParaRPr lang="en-US" sz="1400" dirty="0"/>
          </a:p>
        </p:txBody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E0B239DC-B830-26C7-57A6-3E9BD9CF985B}"/>
              </a:ext>
            </a:extLst>
          </p:cNvPr>
          <p:cNvSpPr/>
          <p:nvPr/>
        </p:nvSpPr>
        <p:spPr>
          <a:xfrm>
            <a:off x="957530" y="483890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regla configurada para patinaje (niveles, evaluaciones, competencias) es reutilizable en otros deportes.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lo que la academia necesita, en seis frentes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41248" y="1709928"/>
            <a:ext cx="548640" cy="548640"/>
          </a:xfrm>
          <a:prstGeom prst="ellipse">
            <a:avLst/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icons/buil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8379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organizacional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246888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· Sedes · Usuarios · Roles · Permisos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1688" y="15087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4562856" y="1709928"/>
            <a:ext cx="548640" cy="548640"/>
          </a:xfrm>
          <a:prstGeom prst="ellipse">
            <a:avLst/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83794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0368" y="169164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 deportiva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62856" y="246888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Deportistas/alumnos · Acudientes · Profesionales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83296" y="15087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8284464" y="1709928"/>
            <a:ext cx="548640" cy="548640"/>
          </a:xfrm>
          <a:prstGeom prst="ellipse">
            <a:avLst/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icons/troph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83794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51976" y="169164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deportivo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84464" y="246888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Disciplinas · Categorías · Niveles · Planes · Membresías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511296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841248" y="3712464"/>
            <a:ext cx="548640" cy="548640"/>
          </a:xfrm>
          <a:prstGeom prst="ellipse">
            <a:avLst/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icons/calend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384048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694176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Operación diaria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41248" y="4471416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· Entrenamientos · Horarios · Asistencia · Citas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61688" y="3511296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4562856" y="3712464"/>
            <a:ext cx="548640" cy="548640"/>
          </a:xfrm>
          <a:prstGeom prst="ellipse">
            <a:avLst/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icons/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384048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0368" y="3694176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del deportista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62856" y="4471416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· Progreso deportivo · Eventos · Competencias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83296" y="3511296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3"/>
          <p:cNvSpPr/>
          <p:nvPr/>
        </p:nvSpPr>
        <p:spPr>
          <a:xfrm>
            <a:off x="8284464" y="3712464"/>
            <a:ext cx="548640" cy="548640"/>
          </a:xfrm>
          <a:prstGeom prst="ellipse">
            <a:avLst/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icons/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384048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51976" y="3694176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Soporte y control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84464" y="4471416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· Notificaciones · Reportes · Auditoría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INTERACCIÓN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interactúan el frontend, el backend y la base de datos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un caso de uso típico, de punta a punta, hasta las tablas y rutas que se ven involucradas.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88720" cy="1234440"/>
          </a:xfrm>
          <a:prstGeom prst="roundRect">
            <a:avLst>
              <a:gd name="adj" fmla="val 6154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8872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" y="2141982"/>
            <a:ext cx="107899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74520" y="1463040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20340" y="155448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0" name="Image 0" descr="icons/we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068" y="166420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47672" y="2039112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Muestra pantalla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947672" y="2368296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8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inicial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4041648" y="1997964"/>
            <a:ext cx="182880" cy="164592"/>
          </a:xfrm>
          <a:prstGeom prst="rightArrow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4169664" y="1463040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5015484" y="155448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1" descr="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212" y="166420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42816" y="2039112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 selecciona servicio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242816" y="2368296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8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categoría o plan</a:t>
            </a:r>
            <a:endParaRPr lang="en-US" sz="780" dirty="0"/>
          </a:p>
        </p:txBody>
      </p:sp>
      <p:sp>
        <p:nvSpPr>
          <p:cNvPr id="19" name="Shape 15"/>
          <p:cNvSpPr/>
          <p:nvPr/>
        </p:nvSpPr>
        <p:spPr>
          <a:xfrm>
            <a:off x="6336792" y="1997964"/>
            <a:ext cx="182880" cy="164592"/>
          </a:xfrm>
          <a:prstGeom prst="rightArrow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6"/>
          <p:cNvSpPr/>
          <p:nvPr/>
        </p:nvSpPr>
        <p:spPr>
          <a:xfrm>
            <a:off x="6464808" y="1463040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7"/>
          <p:cNvSpPr/>
          <p:nvPr/>
        </p:nvSpPr>
        <p:spPr>
          <a:xfrm>
            <a:off x="7310628" y="155448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2" name="Image 2" descr="icons/mon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56" y="166420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37960" y="2039112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Muestra opciones de pago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537960" y="2368296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8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 método de pago</a:t>
            </a:r>
            <a:endParaRPr lang="en-US" sz="780" dirty="0"/>
          </a:p>
        </p:txBody>
      </p:sp>
      <p:sp>
        <p:nvSpPr>
          <p:cNvPr id="25" name="Shape 20"/>
          <p:cNvSpPr/>
          <p:nvPr/>
        </p:nvSpPr>
        <p:spPr>
          <a:xfrm>
            <a:off x="8631936" y="1997964"/>
            <a:ext cx="182880" cy="164592"/>
          </a:xfrm>
          <a:prstGeom prst="rightArrow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1"/>
          <p:cNvSpPr/>
          <p:nvPr/>
        </p:nvSpPr>
        <p:spPr>
          <a:xfrm>
            <a:off x="8759952" y="1463040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2"/>
          <p:cNvSpPr/>
          <p:nvPr/>
        </p:nvSpPr>
        <p:spPr>
          <a:xfrm>
            <a:off x="9605772" y="155448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3" descr="icons/networ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66420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33104" y="2039112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Envía solicitud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8833104" y="2368296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8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la API del backend</a:t>
            </a:r>
            <a:endParaRPr lang="en-US" sz="780" dirty="0"/>
          </a:p>
        </p:txBody>
      </p:sp>
      <p:sp>
        <p:nvSpPr>
          <p:cNvPr id="31" name="Shape 25"/>
          <p:cNvSpPr/>
          <p:nvPr/>
        </p:nvSpPr>
        <p:spPr>
          <a:xfrm>
            <a:off x="457200" y="2825496"/>
            <a:ext cx="11292840" cy="0"/>
          </a:xfrm>
          <a:prstGeom prst="line">
            <a:avLst/>
          </a:prstGeom>
          <a:noFill/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6"/>
          <p:cNvSpPr/>
          <p:nvPr/>
        </p:nvSpPr>
        <p:spPr>
          <a:xfrm>
            <a:off x="457200" y="2971800"/>
            <a:ext cx="1188720" cy="1234440"/>
          </a:xfrm>
          <a:prstGeom prst="roundRect">
            <a:avLst>
              <a:gd name="adj" fmla="val 6154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27"/>
          <p:cNvSpPr/>
          <p:nvPr/>
        </p:nvSpPr>
        <p:spPr>
          <a:xfrm>
            <a:off x="457200" y="2971800"/>
            <a:ext cx="118872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512064" y="3650742"/>
            <a:ext cx="107899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del servidor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1874520" y="2971800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0"/>
          <p:cNvSpPr/>
          <p:nvPr/>
        </p:nvSpPr>
        <p:spPr>
          <a:xfrm>
            <a:off x="2720340" y="306324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7" name="Image 4" descr="icons/plu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0068" y="3172968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947672" y="3547872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 servicio de registro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1947672" y="3877056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8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solicitud</a:t>
            </a:r>
            <a:endParaRPr lang="en-US" sz="780" dirty="0"/>
          </a:p>
        </p:txBody>
      </p:sp>
      <p:sp>
        <p:nvSpPr>
          <p:cNvPr id="40" name="Shape 33"/>
          <p:cNvSpPr/>
          <p:nvPr/>
        </p:nvSpPr>
        <p:spPr>
          <a:xfrm>
            <a:off x="4041648" y="3506724"/>
            <a:ext cx="182880" cy="164592"/>
          </a:xfrm>
          <a:prstGeom prst="rightArrow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Shape 34"/>
          <p:cNvSpPr/>
          <p:nvPr/>
        </p:nvSpPr>
        <p:spPr>
          <a:xfrm>
            <a:off x="4169664" y="2971800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Shape 35"/>
          <p:cNvSpPr/>
          <p:nvPr/>
        </p:nvSpPr>
        <p:spPr>
          <a:xfrm>
            <a:off x="5015484" y="306324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3" name="Image 5" descr="icons/cha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5212" y="3172968"/>
            <a:ext cx="237744" cy="23774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4242816" y="3547872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Realiza cálculos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4242816" y="3877056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8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reglas de negocio</a:t>
            </a:r>
            <a:endParaRPr lang="en-US" sz="780" dirty="0"/>
          </a:p>
        </p:txBody>
      </p:sp>
      <p:sp>
        <p:nvSpPr>
          <p:cNvPr id="46" name="Shape 38"/>
          <p:cNvSpPr/>
          <p:nvPr/>
        </p:nvSpPr>
        <p:spPr>
          <a:xfrm>
            <a:off x="6336792" y="3506724"/>
            <a:ext cx="182880" cy="164592"/>
          </a:xfrm>
          <a:prstGeom prst="rightArrow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Shape 39"/>
          <p:cNvSpPr/>
          <p:nvPr/>
        </p:nvSpPr>
        <p:spPr>
          <a:xfrm>
            <a:off x="6464808" y="2971800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Shape 40"/>
          <p:cNvSpPr/>
          <p:nvPr/>
        </p:nvSpPr>
        <p:spPr>
          <a:xfrm>
            <a:off x="7310628" y="306324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9" name="Image 6" descr="icons/serve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0356" y="3172968"/>
            <a:ext cx="237744" cy="237744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537960" y="3547872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 información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6537960" y="3877056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8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en la base de datos</a:t>
            </a:r>
            <a:endParaRPr lang="en-US" sz="780" dirty="0"/>
          </a:p>
        </p:txBody>
      </p:sp>
      <p:sp>
        <p:nvSpPr>
          <p:cNvPr id="52" name="Shape 43"/>
          <p:cNvSpPr/>
          <p:nvPr/>
        </p:nvSpPr>
        <p:spPr>
          <a:xfrm>
            <a:off x="8631936" y="3506724"/>
            <a:ext cx="182880" cy="164592"/>
          </a:xfrm>
          <a:prstGeom prst="rightArrow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3" name="Shape 44"/>
          <p:cNvSpPr/>
          <p:nvPr/>
        </p:nvSpPr>
        <p:spPr>
          <a:xfrm>
            <a:off x="8759952" y="2971800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Shape 45"/>
          <p:cNvSpPr/>
          <p:nvPr/>
        </p:nvSpPr>
        <p:spPr>
          <a:xfrm>
            <a:off x="9605772" y="306324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5" name="Image 7" descr="icons/check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5500" y="3172968"/>
            <a:ext cx="237744" cy="237744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8833104" y="3547872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Retorna respuesta</a:t>
            </a:r>
            <a:endParaRPr lang="en-US" sz="1000" dirty="0"/>
          </a:p>
        </p:txBody>
      </p:sp>
      <p:sp>
        <p:nvSpPr>
          <p:cNvPr id="57" name="Text 47"/>
          <p:cNvSpPr/>
          <p:nvPr/>
        </p:nvSpPr>
        <p:spPr>
          <a:xfrm>
            <a:off x="8833104" y="3877056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8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al frontend</a:t>
            </a:r>
            <a:endParaRPr lang="en-US" sz="780" dirty="0"/>
          </a:p>
        </p:txBody>
      </p:sp>
      <p:sp>
        <p:nvSpPr>
          <p:cNvPr id="58" name="Shape 48"/>
          <p:cNvSpPr/>
          <p:nvPr/>
        </p:nvSpPr>
        <p:spPr>
          <a:xfrm>
            <a:off x="457200" y="4334256"/>
            <a:ext cx="11292840" cy="0"/>
          </a:xfrm>
          <a:prstGeom prst="line">
            <a:avLst/>
          </a:prstGeom>
          <a:noFill/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Shape 49"/>
          <p:cNvSpPr/>
          <p:nvPr/>
        </p:nvSpPr>
        <p:spPr>
          <a:xfrm>
            <a:off x="457200" y="4462272"/>
            <a:ext cx="1188720" cy="804672"/>
          </a:xfrm>
          <a:prstGeom prst="roundRect">
            <a:avLst>
              <a:gd name="adj" fmla="val 9091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0" name="Text 50"/>
          <p:cNvSpPr/>
          <p:nvPr/>
        </p:nvSpPr>
        <p:spPr>
          <a:xfrm>
            <a:off x="457200" y="4462272"/>
            <a:ext cx="1188720" cy="4425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300" dirty="0"/>
          </a:p>
        </p:txBody>
      </p:sp>
      <p:sp>
        <p:nvSpPr>
          <p:cNvPr id="61" name="Text 51"/>
          <p:cNvSpPr/>
          <p:nvPr/>
        </p:nvSpPr>
        <p:spPr>
          <a:xfrm>
            <a:off x="512064" y="4904842"/>
            <a:ext cx="1078992" cy="3218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involucradas</a:t>
            </a:r>
            <a:endParaRPr lang="en-US" sz="800" dirty="0"/>
          </a:p>
        </p:txBody>
      </p:sp>
      <p:sp>
        <p:nvSpPr>
          <p:cNvPr id="62" name="Shape 52"/>
          <p:cNvSpPr/>
          <p:nvPr/>
        </p:nvSpPr>
        <p:spPr>
          <a:xfrm>
            <a:off x="1874520" y="4462272"/>
            <a:ext cx="2368296" cy="804672"/>
          </a:xfrm>
          <a:prstGeom prst="roundRect">
            <a:avLst>
              <a:gd name="adj" fmla="val 6818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3" name="Shape 53"/>
          <p:cNvSpPr/>
          <p:nvPr/>
        </p:nvSpPr>
        <p:spPr>
          <a:xfrm>
            <a:off x="1965960" y="4553712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4" name="Text 54"/>
          <p:cNvSpPr/>
          <p:nvPr/>
        </p:nvSpPr>
        <p:spPr>
          <a:xfrm>
            <a:off x="1965960" y="455371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750" dirty="0"/>
          </a:p>
        </p:txBody>
      </p:sp>
      <p:sp>
        <p:nvSpPr>
          <p:cNvPr id="65" name="Text 55"/>
          <p:cNvSpPr/>
          <p:nvPr/>
        </p:nvSpPr>
        <p:spPr>
          <a:xfrm>
            <a:off x="2715768" y="4517136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sedes</a:t>
            </a:r>
            <a:endParaRPr lang="en-US" sz="1200" dirty="0"/>
          </a:p>
        </p:txBody>
      </p:sp>
      <p:sp>
        <p:nvSpPr>
          <p:cNvPr id="66" name="Text 56"/>
          <p:cNvSpPr/>
          <p:nvPr/>
        </p:nvSpPr>
        <p:spPr>
          <a:xfrm>
            <a:off x="1965960" y="484632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física</a:t>
            </a:r>
            <a:endParaRPr lang="en-US" sz="830" dirty="0"/>
          </a:p>
        </p:txBody>
      </p:sp>
      <p:sp>
        <p:nvSpPr>
          <p:cNvPr id="67" name="Shape 57"/>
          <p:cNvSpPr/>
          <p:nvPr/>
        </p:nvSpPr>
        <p:spPr>
          <a:xfrm>
            <a:off x="2976372" y="5303520"/>
            <a:ext cx="164592" cy="182880"/>
          </a:xfrm>
          <a:prstGeom prst="downArrow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8" name="Shape 58"/>
          <p:cNvSpPr/>
          <p:nvPr/>
        </p:nvSpPr>
        <p:spPr>
          <a:xfrm>
            <a:off x="4370832" y="4462272"/>
            <a:ext cx="2368296" cy="804672"/>
          </a:xfrm>
          <a:prstGeom prst="roundRect">
            <a:avLst>
              <a:gd name="adj" fmla="val 6818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9" name="Shape 59"/>
          <p:cNvSpPr/>
          <p:nvPr/>
        </p:nvSpPr>
        <p:spPr>
          <a:xfrm>
            <a:off x="4462272" y="4553712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0" name="Text 60"/>
          <p:cNvSpPr/>
          <p:nvPr/>
        </p:nvSpPr>
        <p:spPr>
          <a:xfrm>
            <a:off x="4462272" y="455371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750" dirty="0"/>
          </a:p>
        </p:txBody>
      </p:sp>
      <p:sp>
        <p:nvSpPr>
          <p:cNvPr id="71" name="Text 61"/>
          <p:cNvSpPr/>
          <p:nvPr/>
        </p:nvSpPr>
        <p:spPr>
          <a:xfrm>
            <a:off x="5212080" y="4517136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profesionales</a:t>
            </a:r>
            <a:endParaRPr lang="en-US" sz="1200" dirty="0"/>
          </a:p>
        </p:txBody>
      </p:sp>
      <p:sp>
        <p:nvSpPr>
          <p:cNvPr id="72" name="Text 62"/>
          <p:cNvSpPr/>
          <p:nvPr/>
        </p:nvSpPr>
        <p:spPr>
          <a:xfrm>
            <a:off x="4462272" y="484632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o entrenador</a:t>
            </a:r>
            <a:endParaRPr lang="en-US" sz="830" dirty="0"/>
          </a:p>
        </p:txBody>
      </p:sp>
      <p:sp>
        <p:nvSpPr>
          <p:cNvPr id="73" name="Shape 63"/>
          <p:cNvSpPr/>
          <p:nvPr/>
        </p:nvSpPr>
        <p:spPr>
          <a:xfrm>
            <a:off x="5472684" y="5303520"/>
            <a:ext cx="164592" cy="182880"/>
          </a:xfrm>
          <a:prstGeom prst="downArrow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4" name="Shape 64"/>
          <p:cNvSpPr/>
          <p:nvPr/>
        </p:nvSpPr>
        <p:spPr>
          <a:xfrm>
            <a:off x="6867144" y="4462272"/>
            <a:ext cx="2368296" cy="804672"/>
          </a:xfrm>
          <a:prstGeom prst="roundRect">
            <a:avLst>
              <a:gd name="adj" fmla="val 6818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5" name="Shape 65"/>
          <p:cNvSpPr/>
          <p:nvPr/>
        </p:nvSpPr>
        <p:spPr>
          <a:xfrm>
            <a:off x="6958584" y="4553712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6" name="Text 66"/>
          <p:cNvSpPr/>
          <p:nvPr/>
        </p:nvSpPr>
        <p:spPr>
          <a:xfrm>
            <a:off x="6958584" y="455371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750" dirty="0"/>
          </a:p>
        </p:txBody>
      </p:sp>
      <p:sp>
        <p:nvSpPr>
          <p:cNvPr id="77" name="Text 67"/>
          <p:cNvSpPr/>
          <p:nvPr/>
        </p:nvSpPr>
        <p:spPr>
          <a:xfrm>
            <a:off x="7708392" y="4517136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</a:t>
            </a:r>
            <a:endParaRPr lang="en-US" sz="1200" dirty="0"/>
          </a:p>
        </p:txBody>
      </p:sp>
      <p:sp>
        <p:nvSpPr>
          <p:cNvPr id="78" name="Text 68"/>
          <p:cNvSpPr/>
          <p:nvPr/>
        </p:nvSpPr>
        <p:spPr>
          <a:xfrm>
            <a:off x="6958584" y="484632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clase o membresía</a:t>
            </a:r>
            <a:endParaRPr lang="en-US" sz="830" dirty="0"/>
          </a:p>
        </p:txBody>
      </p:sp>
      <p:sp>
        <p:nvSpPr>
          <p:cNvPr id="79" name="Shape 69"/>
          <p:cNvSpPr/>
          <p:nvPr/>
        </p:nvSpPr>
        <p:spPr>
          <a:xfrm>
            <a:off x="7968996" y="5303520"/>
            <a:ext cx="164592" cy="182880"/>
          </a:xfrm>
          <a:prstGeom prst="downArrow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0" name="Shape 70"/>
          <p:cNvSpPr/>
          <p:nvPr/>
        </p:nvSpPr>
        <p:spPr>
          <a:xfrm>
            <a:off x="9363456" y="4462272"/>
            <a:ext cx="2368296" cy="804672"/>
          </a:xfrm>
          <a:prstGeom prst="roundRect">
            <a:avLst>
              <a:gd name="adj" fmla="val 6818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1" name="Shape 71"/>
          <p:cNvSpPr/>
          <p:nvPr/>
        </p:nvSpPr>
        <p:spPr>
          <a:xfrm>
            <a:off x="9454896" y="4553712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2" name="Text 72"/>
          <p:cNvSpPr/>
          <p:nvPr/>
        </p:nvSpPr>
        <p:spPr>
          <a:xfrm>
            <a:off x="9454896" y="455371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750" dirty="0"/>
          </a:p>
        </p:txBody>
      </p:sp>
      <p:sp>
        <p:nvSpPr>
          <p:cNvPr id="83" name="Text 73"/>
          <p:cNvSpPr/>
          <p:nvPr/>
        </p:nvSpPr>
        <p:spPr>
          <a:xfrm>
            <a:off x="10204704" y="4517136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pagos</a:t>
            </a:r>
            <a:endParaRPr lang="en-US" sz="1200" dirty="0"/>
          </a:p>
        </p:txBody>
      </p:sp>
      <p:sp>
        <p:nvSpPr>
          <p:cNvPr id="84" name="Text 74"/>
          <p:cNvSpPr/>
          <p:nvPr/>
        </p:nvSpPr>
        <p:spPr>
          <a:xfrm>
            <a:off x="9454896" y="484632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registrada</a:t>
            </a:r>
            <a:endParaRPr lang="en-US" sz="830" dirty="0"/>
          </a:p>
        </p:txBody>
      </p:sp>
      <p:sp>
        <p:nvSpPr>
          <p:cNvPr id="85" name="Shape 75"/>
          <p:cNvSpPr/>
          <p:nvPr/>
        </p:nvSpPr>
        <p:spPr>
          <a:xfrm>
            <a:off x="10465308" y="5303520"/>
            <a:ext cx="164592" cy="182880"/>
          </a:xfrm>
          <a:prstGeom prst="downArrow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6" name="Shape 76"/>
          <p:cNvSpPr/>
          <p:nvPr/>
        </p:nvSpPr>
        <p:spPr>
          <a:xfrm>
            <a:off x="457200" y="5541264"/>
            <a:ext cx="1188720" cy="804672"/>
          </a:xfrm>
          <a:prstGeom prst="roundRect">
            <a:avLst>
              <a:gd name="adj" fmla="val 9091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7" name="Text 77"/>
          <p:cNvSpPr/>
          <p:nvPr/>
        </p:nvSpPr>
        <p:spPr>
          <a:xfrm>
            <a:off x="457200" y="5541264"/>
            <a:ext cx="1188720" cy="4425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RUTAS</a:t>
            </a:r>
            <a:endParaRPr lang="en-US" sz="1400" dirty="0"/>
          </a:p>
        </p:txBody>
      </p:sp>
      <p:sp>
        <p:nvSpPr>
          <p:cNvPr id="88" name="Text 78"/>
          <p:cNvSpPr/>
          <p:nvPr/>
        </p:nvSpPr>
        <p:spPr>
          <a:xfrm>
            <a:off x="512064" y="5983834"/>
            <a:ext cx="1078992" cy="3218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generales</a:t>
            </a:r>
            <a:endParaRPr lang="en-US" sz="800" dirty="0"/>
          </a:p>
        </p:txBody>
      </p:sp>
      <p:sp>
        <p:nvSpPr>
          <p:cNvPr id="89" name="Shape 79"/>
          <p:cNvSpPr/>
          <p:nvPr/>
        </p:nvSpPr>
        <p:spPr>
          <a:xfrm>
            <a:off x="1874520" y="5541264"/>
            <a:ext cx="2368296" cy="804672"/>
          </a:xfrm>
          <a:prstGeom prst="roundRect">
            <a:avLst>
              <a:gd name="adj" fmla="val 6818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0" name="Shape 80"/>
          <p:cNvSpPr/>
          <p:nvPr/>
        </p:nvSpPr>
        <p:spPr>
          <a:xfrm>
            <a:off x="1965960" y="5632704"/>
            <a:ext cx="530352" cy="219456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1" name="Text 81"/>
          <p:cNvSpPr/>
          <p:nvPr/>
        </p:nvSpPr>
        <p:spPr>
          <a:xfrm>
            <a:off x="1965960" y="5632704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92" name="Text 82"/>
          <p:cNvSpPr/>
          <p:nvPr/>
        </p:nvSpPr>
        <p:spPr>
          <a:xfrm>
            <a:off x="2569464" y="559612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/sedes</a:t>
            </a:r>
            <a:endParaRPr lang="en-US" sz="1150" dirty="0"/>
          </a:p>
        </p:txBody>
      </p:sp>
      <p:sp>
        <p:nvSpPr>
          <p:cNvPr id="93" name="Text 83"/>
          <p:cNvSpPr/>
          <p:nvPr/>
        </p:nvSpPr>
        <p:spPr>
          <a:xfrm>
            <a:off x="1965960" y="5925312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sede</a:t>
            </a:r>
            <a:endParaRPr lang="en-US" sz="830" dirty="0"/>
          </a:p>
        </p:txBody>
      </p:sp>
      <p:sp>
        <p:nvSpPr>
          <p:cNvPr id="94" name="Shape 84"/>
          <p:cNvSpPr/>
          <p:nvPr/>
        </p:nvSpPr>
        <p:spPr>
          <a:xfrm>
            <a:off x="4370832" y="5541264"/>
            <a:ext cx="2368296" cy="804672"/>
          </a:xfrm>
          <a:prstGeom prst="roundRect">
            <a:avLst>
              <a:gd name="adj" fmla="val 6818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5" name="Shape 85"/>
          <p:cNvSpPr/>
          <p:nvPr/>
        </p:nvSpPr>
        <p:spPr>
          <a:xfrm>
            <a:off x="4462272" y="5632704"/>
            <a:ext cx="530352" cy="219456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6" name="Text 86"/>
          <p:cNvSpPr/>
          <p:nvPr/>
        </p:nvSpPr>
        <p:spPr>
          <a:xfrm>
            <a:off x="4462272" y="5632704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97" name="Text 87"/>
          <p:cNvSpPr/>
          <p:nvPr/>
        </p:nvSpPr>
        <p:spPr>
          <a:xfrm>
            <a:off x="5065776" y="559612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/profesionales</a:t>
            </a:r>
            <a:endParaRPr lang="en-US" sz="1150" dirty="0"/>
          </a:p>
        </p:txBody>
      </p:sp>
      <p:sp>
        <p:nvSpPr>
          <p:cNvPr id="98" name="Text 88"/>
          <p:cNvSpPr/>
          <p:nvPr/>
        </p:nvSpPr>
        <p:spPr>
          <a:xfrm>
            <a:off x="4462272" y="5925312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profesional</a:t>
            </a:r>
            <a:endParaRPr lang="en-US" sz="830" dirty="0"/>
          </a:p>
        </p:txBody>
      </p:sp>
      <p:sp>
        <p:nvSpPr>
          <p:cNvPr id="99" name="Shape 89"/>
          <p:cNvSpPr/>
          <p:nvPr/>
        </p:nvSpPr>
        <p:spPr>
          <a:xfrm>
            <a:off x="6867144" y="5541264"/>
            <a:ext cx="2368296" cy="804672"/>
          </a:xfrm>
          <a:prstGeom prst="roundRect">
            <a:avLst>
              <a:gd name="adj" fmla="val 6818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0" name="Shape 90"/>
          <p:cNvSpPr/>
          <p:nvPr/>
        </p:nvSpPr>
        <p:spPr>
          <a:xfrm>
            <a:off x="6958584" y="5632704"/>
            <a:ext cx="530352" cy="219456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1" name="Text 91"/>
          <p:cNvSpPr/>
          <p:nvPr/>
        </p:nvSpPr>
        <p:spPr>
          <a:xfrm>
            <a:off x="6958584" y="5632704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02" name="Text 92"/>
          <p:cNvSpPr/>
          <p:nvPr/>
        </p:nvSpPr>
        <p:spPr>
          <a:xfrm>
            <a:off x="7562088" y="559612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/servicios</a:t>
            </a:r>
            <a:endParaRPr lang="en-US" sz="1150" dirty="0"/>
          </a:p>
        </p:txBody>
      </p:sp>
      <p:sp>
        <p:nvSpPr>
          <p:cNvPr id="103" name="Text 93"/>
          <p:cNvSpPr/>
          <p:nvPr/>
        </p:nvSpPr>
        <p:spPr>
          <a:xfrm>
            <a:off x="6958584" y="5925312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servicio</a:t>
            </a:r>
            <a:endParaRPr lang="en-US" sz="830" dirty="0"/>
          </a:p>
        </p:txBody>
      </p:sp>
      <p:sp>
        <p:nvSpPr>
          <p:cNvPr id="104" name="Shape 94"/>
          <p:cNvSpPr/>
          <p:nvPr/>
        </p:nvSpPr>
        <p:spPr>
          <a:xfrm>
            <a:off x="9363456" y="5541264"/>
            <a:ext cx="2368296" cy="804672"/>
          </a:xfrm>
          <a:prstGeom prst="roundRect">
            <a:avLst>
              <a:gd name="adj" fmla="val 6818"/>
            </a:avLst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5" name="Shape 95"/>
          <p:cNvSpPr/>
          <p:nvPr/>
        </p:nvSpPr>
        <p:spPr>
          <a:xfrm>
            <a:off x="9454896" y="5632704"/>
            <a:ext cx="530352" cy="219456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6" name="Text 96"/>
          <p:cNvSpPr/>
          <p:nvPr/>
        </p:nvSpPr>
        <p:spPr>
          <a:xfrm>
            <a:off x="9454896" y="5632704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07" name="Text 97"/>
          <p:cNvSpPr/>
          <p:nvPr/>
        </p:nvSpPr>
        <p:spPr>
          <a:xfrm>
            <a:off x="10058400" y="559612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/pagos</a:t>
            </a:r>
            <a:endParaRPr lang="en-US" sz="1150" dirty="0"/>
          </a:p>
        </p:txBody>
      </p:sp>
      <p:sp>
        <p:nvSpPr>
          <p:cNvPr id="108" name="Text 98"/>
          <p:cNvSpPr/>
          <p:nvPr/>
        </p:nvSpPr>
        <p:spPr>
          <a:xfrm>
            <a:off x="9454896" y="5925312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pago</a:t>
            </a:r>
            <a:endParaRPr lang="en-US" sz="830" dirty="0"/>
          </a:p>
        </p:txBody>
      </p:sp>
      <p:sp>
        <p:nvSpPr>
          <p:cNvPr id="109" name="Text 9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plataforma web al ecosistema móvil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68680" y="21671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172968" y="2240280"/>
            <a:ext cx="621792" cy="621792"/>
          </a:xfrm>
          <a:prstGeom prst="ellipse">
            <a:avLst/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icons/we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238658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0175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· Plataforma web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 con la configuración completa para la escuela de patinaje: gestion de </a:t>
            </a:r>
            <a:r>
              <a:rPr lang="en-US" sz="1150" dirty="0" err="1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r>
              <a:rPr lang="en-US" sz="115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gestion de profesionales, asistencia y evaluaciones.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087368" y="3639312"/>
            <a:ext cx="274320" cy="219456"/>
          </a:xfrm>
          <a:prstGeom prst="rightArrow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4389120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4617720" y="21671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6922008" y="2240280"/>
            <a:ext cx="621792" cy="621792"/>
          </a:xfrm>
          <a:prstGeom prst="ellipse">
            <a:avLst/>
          </a:prstGeom>
          <a:solidFill>
            <a:srgbClr val="142E5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4" name="Image 1" descr="icons/netwo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38658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30175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· Multi-disciplina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17720" y="365760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activan nuevas disciplinas y sedes reutilizando el mismo motor, sin cambios estructurales.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836408" y="3639312"/>
            <a:ext cx="274320" cy="219456"/>
          </a:xfrm>
          <a:prstGeom prst="rightArrow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4"/>
          <p:cNvSpPr/>
          <p:nvPr/>
        </p:nvSpPr>
        <p:spPr>
          <a:xfrm>
            <a:off x="8138160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5"/>
          <p:cNvSpPr/>
          <p:nvPr/>
        </p:nvSpPr>
        <p:spPr>
          <a:xfrm>
            <a:off x="8366760" y="21671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10671048" y="2240280"/>
            <a:ext cx="621792" cy="62179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2" descr="icons/mob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7352" y="2386584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66760" y="30175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· App móvil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66760" y="365760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a aplicaciones Android/iOS para deportistas, acudientes y profesionales, sobre la misma API.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IMPERIA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ACADEMY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47120" cy="0"/>
          </a:xfrm>
          <a:prstGeom prst="line">
            <a:avLst/>
          </a:prstGeom>
          <a:noFill/>
          <a:ln w="1016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 0" descr="/mnt/data/IMPERIA_logo_azul_dorado_mismo_dise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380" y="1335714"/>
            <a:ext cx="2442135" cy="2442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 5"/>
          <p:cNvSpPr/>
          <p:nvPr/>
        </p:nvSpPr>
        <p:spPr>
          <a:xfrm>
            <a:off x="795528" y="487306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IMPERIA · Excelencia técnica · Formación integral · Dominio propio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Microsoft Office PowerPoint</Application>
  <PresentationFormat>Panorámica</PresentationFormat>
  <Paragraphs>141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IMPERIA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IMPERIA V2 — Drive de trabajo para ingenieros</dc:title>
  <dc:subject>Guía de entrega de información para ingenieros</dc:subject>
  <dc:creator>IMPERIA</dc:creator>
  <cp:lastModifiedBy>Luis Sebastian Morales Combariza</cp:lastModifiedBy>
  <cp:revision>6</cp:revision>
  <dcterms:created xsi:type="dcterms:W3CDTF">2026-08-19T00:39:56Z</dcterms:created>
  <dcterms:modified xsi:type="dcterms:W3CDTF">2026-08-21T16:23:32Z</dcterms:modified>
</cp:coreProperties>
</file>